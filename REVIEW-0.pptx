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3"/>
    <p:sldId id="257" r:id="rId4"/>
    <p:sldId id="258" r:id="rId5"/>
    <p:sldId id="259" r:id="rId6"/>
    <p:sldId id="260" r:id="rId7"/>
    <p:sldId id="261" r:id="rId8"/>
    <p:sldId id="262" r:id="rId9"/>
    <p:sldId id="263" r:id="rId10"/>
    <p:sldId id="264" r:id="rId11"/>
    <p:sldId id="265" r:id="rId12"/>
    <p:sldId id="266" r:id="rId13"/>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DE5F0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78" d="100"/>
          <a:sy n="78" d="100"/>
        </p:scale>
        <p:origin x="-1536" y="-8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notesMaster" Target="notesMasters/notesMaster1.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979" y="0"/>
            <a:ext cx="5283200" cy="344091"/>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6513910"/>
            <a:ext cx="52832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979" y="6513910"/>
            <a:ext cx="5283200" cy="344090"/>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panose="02020603050405020304"/>
                <a:cs typeface="Times New Roman" panose="02020603050405020304"/>
              </a:defRPr>
            </a:lvl1pPr>
          </a:lstStyle>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2" name="Holder 2"/>
          <p:cNvSpPr>
            <a:spLocks noGrp="1"/>
          </p:cNvSpPr>
          <p:nvPr>
            <p:ph type="title"/>
          </p:nvPr>
        </p:nvSpPr>
        <p:spPr/>
        <p:txBody>
          <a:bodyPr lIns="0" tIns="0" rIns="0" bIns="0"/>
          <a:lstStyle>
            <a:lvl1pPr>
              <a:defRPr sz="4400" b="0" i="0">
                <a:solidFill>
                  <a:schemeClr val="bg1"/>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panose="02020603050405020304"/>
                <a:cs typeface="Times New Roman" panose="02020603050405020304"/>
              </a:defRPr>
            </a:lvl1pPr>
          </a:lstStyle>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panose="02020603050405020304"/>
                <a:cs typeface="Times New Roman" panose="02020603050405020304"/>
              </a:defRPr>
            </a:lvl1pPr>
          </a:lstStyle>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showMasterSp="0">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image" Target="../media/image1.jpe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p:txBody>
      </p:sp>
      <p:pic>
        <p:nvPicPr>
          <p:cNvPr id="19" name="bg object 19"/>
          <p:cNvPicPr/>
          <p:nvPr/>
        </p:nvPicPr>
        <p:blipFill>
          <a:blip r:embed="rId6"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dirty="0"/>
              <a:t>A</a:t>
            </a:r>
            <a:r>
              <a:rPr spc="-10" dirty="0"/>
              <a:t> </a:t>
            </a:r>
            <a:r>
              <a:rPr dirty="0"/>
              <a:t>-</a:t>
            </a:r>
            <a:r>
              <a:rPr spc="-5" dirty="0"/>
              <a:t> </a:t>
            </a:r>
            <a:r>
              <a:rPr spc="-25" dirty="0"/>
              <a:t>XX</a:t>
            </a:r>
            <a:endParaRPr spc="-25" dirty="0"/>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panose="02020603050405020304"/>
                <a:cs typeface="Times New Roman" panose="02020603050405020304"/>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panose="02020603050405020304"/>
                <a:cs typeface="Times New Roman" panose="02020603050405020304"/>
              </a:defRPr>
            </a:lvl1pPr>
          </a:lstStyle>
          <a:p>
            <a:pPr marL="12700">
              <a:lnSpc>
                <a:spcPts val="1845"/>
              </a:lnSpc>
            </a:pPr>
            <a:fld id="{81D60167-4931-47E6-BA6A-407CBD079E47}" type="slidenum">
              <a:rPr spc="-25" dirty="0"/>
            </a:fld>
            <a:endParaRPr spc="-25"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jpeg"/><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1.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5.png"/><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p:txBody>
      </p:sp>
      <p:sp>
        <p:nvSpPr>
          <p:cNvPr id="8" name="object 8"/>
          <p:cNvSpPr txBox="1"/>
          <p:nvPr/>
        </p:nvSpPr>
        <p:spPr>
          <a:xfrm>
            <a:off x="8534400" y="1737360"/>
            <a:ext cx="2963545" cy="415925"/>
          </a:xfrm>
          <a:prstGeom prst="rect">
            <a:avLst/>
          </a:prstGeom>
        </p:spPr>
        <p:txBody>
          <a:bodyPr vert="horz" wrap="square" lIns="0" tIns="13335" rIns="0" bIns="0" rtlCol="0">
            <a:spAutoFit/>
          </a:bodyPr>
          <a:lstStyle/>
          <a:p>
            <a:pPr algn="ctr">
              <a:lnSpc>
                <a:spcPts val="2080"/>
              </a:lnSpc>
              <a:spcBef>
                <a:spcPts val="105"/>
              </a:spcBef>
            </a:pPr>
            <a:r>
              <a:rPr lang="en-US" altLang="en-US" sz="2400" dirty="0">
                <a:latin typeface="Times New Roman" panose="02020603050405020304"/>
                <a:cs typeface="Times New Roman" panose="02020603050405020304"/>
              </a:rPr>
              <a:t>VENKATA VENU</a:t>
            </a:r>
            <a:r>
              <a:rPr lang="en-IN" altLang="en-US" sz="2400" dirty="0">
                <a:latin typeface="Times New Roman" panose="02020603050405020304"/>
                <a:cs typeface="Times New Roman" panose="02020603050405020304"/>
              </a:rPr>
              <a:t> K </a:t>
            </a:r>
            <a:endParaRPr sz="2400">
              <a:latin typeface="Times New Roman" panose="02020603050405020304"/>
              <a:cs typeface="Times New Roman" panose="02020603050405020304"/>
            </a:endParaRPr>
          </a:p>
          <a:p>
            <a:pPr marL="635" algn="ctr">
              <a:lnSpc>
                <a:spcPts val="1060"/>
              </a:lnSpc>
            </a:pPr>
            <a:r>
              <a:rPr sz="1200" dirty="0">
                <a:latin typeface="Times New Roman" panose="02020603050405020304"/>
                <a:cs typeface="Times New Roman" panose="02020603050405020304"/>
              </a:rPr>
              <a:t>Roll</a:t>
            </a:r>
            <a:r>
              <a:rPr sz="1200" spc="5" dirty="0">
                <a:latin typeface="Times New Roman" panose="02020603050405020304"/>
                <a:cs typeface="Times New Roman" panose="02020603050405020304"/>
              </a:rPr>
              <a:t> </a:t>
            </a:r>
            <a:r>
              <a:rPr sz="1200" dirty="0">
                <a:latin typeface="Times New Roman" panose="02020603050405020304"/>
                <a:cs typeface="Times New Roman" panose="02020603050405020304"/>
              </a:rPr>
              <a:t>No.</a:t>
            </a:r>
            <a:r>
              <a:rPr sz="1200" spc="5" dirty="0">
                <a:latin typeface="Times New Roman" panose="02020603050405020304"/>
                <a:cs typeface="Times New Roman" panose="02020603050405020304"/>
              </a:rPr>
              <a:t> </a:t>
            </a:r>
            <a:r>
              <a:rPr lang="en-IN" altLang="en-US" sz="1200" spc="5" dirty="0">
                <a:latin typeface="Times New Roman" panose="02020603050405020304"/>
                <a:cs typeface="Times New Roman" panose="02020603050405020304"/>
              </a:rPr>
              <a:t>224G1A05C3</a:t>
            </a:r>
            <a:endParaRPr lang="en-IN" altLang="en-US" sz="1200" spc="5" dirty="0">
              <a:latin typeface="Times New Roman" panose="02020603050405020304"/>
              <a:cs typeface="Times New Roman" panose="02020603050405020304"/>
            </a:endParaRPr>
          </a:p>
        </p:txBody>
      </p:sp>
      <p:sp>
        <p:nvSpPr>
          <p:cNvPr id="9" name="object 9"/>
          <p:cNvSpPr txBox="1"/>
          <p:nvPr/>
        </p:nvSpPr>
        <p:spPr>
          <a:xfrm>
            <a:off x="4462780" y="2476500"/>
            <a:ext cx="3683635" cy="951865"/>
          </a:xfrm>
          <a:prstGeom prst="rect">
            <a:avLst/>
          </a:prstGeom>
        </p:spPr>
        <p:txBody>
          <a:bodyPr vert="horz" wrap="square" lIns="0" tIns="12700" rIns="0" bIns="0" rtlCol="0">
            <a:spAutoFit/>
          </a:bodyPr>
          <a:lstStyle/>
          <a:p>
            <a:pPr marL="635" algn="ctr">
              <a:lnSpc>
                <a:spcPts val="1630"/>
              </a:lnSpc>
              <a:spcBef>
                <a:spcPts val="100"/>
              </a:spcBef>
            </a:pPr>
            <a:r>
              <a:rPr sz="1400" i="1" dirty="0">
                <a:latin typeface="Times New Roman" panose="02020603050405020304"/>
                <a:cs typeface="Times New Roman" panose="02020603050405020304"/>
              </a:rPr>
              <a:t>Under</a:t>
            </a:r>
            <a:r>
              <a:rPr sz="1400" i="1" spc="-35" dirty="0">
                <a:latin typeface="Times New Roman" panose="02020603050405020304"/>
                <a:cs typeface="Times New Roman" panose="02020603050405020304"/>
              </a:rPr>
              <a:t> </a:t>
            </a:r>
            <a:r>
              <a:rPr sz="1400" i="1" dirty="0">
                <a:latin typeface="Times New Roman" panose="02020603050405020304"/>
                <a:cs typeface="Times New Roman" panose="02020603050405020304"/>
              </a:rPr>
              <a:t>the</a:t>
            </a:r>
            <a:r>
              <a:rPr sz="1400" i="1" spc="-35" dirty="0">
                <a:latin typeface="Times New Roman" panose="02020603050405020304"/>
                <a:cs typeface="Times New Roman" panose="02020603050405020304"/>
              </a:rPr>
              <a:t> </a:t>
            </a:r>
            <a:r>
              <a:rPr sz="1400" i="1" spc="-10" dirty="0">
                <a:latin typeface="Times New Roman" panose="02020603050405020304"/>
                <a:cs typeface="Times New Roman" panose="02020603050405020304"/>
              </a:rPr>
              <a:t>guidance</a:t>
            </a:r>
            <a:r>
              <a:rPr sz="1400" i="1" spc="-35" dirty="0">
                <a:latin typeface="Times New Roman" panose="02020603050405020304"/>
                <a:cs typeface="Times New Roman" panose="02020603050405020304"/>
              </a:rPr>
              <a:t> </a:t>
            </a:r>
            <a:r>
              <a:rPr sz="1400" i="1" spc="-25" dirty="0">
                <a:latin typeface="Times New Roman" panose="02020603050405020304"/>
                <a:cs typeface="Times New Roman" panose="02020603050405020304"/>
              </a:rPr>
              <a:t>of</a:t>
            </a:r>
            <a:endParaRPr sz="1400">
              <a:latin typeface="Times New Roman" panose="02020603050405020304"/>
              <a:cs typeface="Times New Roman" panose="02020603050405020304"/>
            </a:endParaRPr>
          </a:p>
          <a:p>
            <a:pPr marL="12065" marR="5080" algn="ctr">
              <a:lnSpc>
                <a:spcPts val="2790"/>
              </a:lnSpc>
              <a:spcBef>
                <a:spcPts val="115"/>
              </a:spcBef>
            </a:pPr>
            <a:r>
              <a:rPr lang="en-US" altLang="en-US" sz="2400" spc="-20" dirty="0">
                <a:latin typeface="Times New Roman" panose="02020603050405020304"/>
                <a:cs typeface="Times New Roman" panose="02020603050405020304"/>
              </a:rPr>
              <a:t>Mr. G.Ganesh</a:t>
            </a:r>
            <a:r>
              <a:rPr sz="2400" spc="-20" dirty="0">
                <a:latin typeface="Times New Roman" panose="02020603050405020304"/>
                <a:cs typeface="Times New Roman" panose="02020603050405020304"/>
              </a:rPr>
              <a:t> </a:t>
            </a:r>
            <a:r>
              <a:rPr sz="2400" spc="-10" dirty="0">
                <a:latin typeface="Times New Roman" panose="02020603050405020304"/>
                <a:cs typeface="Times New Roman" panose="02020603050405020304"/>
              </a:rPr>
              <a:t>,</a:t>
            </a:r>
            <a:r>
              <a:rPr lang="en-US" altLang="en-US" sz="2400" spc="-10" dirty="0">
                <a:latin typeface="Times New Roman" panose="02020603050405020304"/>
                <a:cs typeface="Times New Roman" panose="02020603050405020304"/>
              </a:rPr>
              <a:t>M.Tech</a:t>
            </a:r>
            <a:r>
              <a:rPr sz="2400" spc="-10" dirty="0">
                <a:latin typeface="Times New Roman" panose="02020603050405020304"/>
                <a:cs typeface="Times New Roman" panose="02020603050405020304"/>
              </a:rPr>
              <a:t> </a:t>
            </a:r>
            <a:r>
              <a:rPr lang="en-US" altLang="en-US" sz="2400">
                <a:latin typeface="Times New Roman" panose="02020603050405020304"/>
                <a:cs typeface="Times New Roman" panose="02020603050405020304"/>
              </a:rPr>
              <a:t>Assistant Professor</a:t>
            </a:r>
            <a:endParaRPr lang="en-US" altLang="en-US" sz="2400">
              <a:latin typeface="Times New Roman" panose="02020603050405020304"/>
              <a:cs typeface="Times New Roman" panose="02020603050405020304"/>
            </a:endParaRPr>
          </a:p>
        </p:txBody>
      </p:sp>
      <p:sp>
        <p:nvSpPr>
          <p:cNvPr id="10" name="object 10"/>
          <p:cNvSpPr txBox="1"/>
          <p:nvPr/>
        </p:nvSpPr>
        <p:spPr>
          <a:xfrm>
            <a:off x="2147578" y="5096081"/>
            <a:ext cx="7890509" cy="1447800"/>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panose="02020603050405020304"/>
                <a:cs typeface="Times New Roman" panose="02020603050405020304"/>
              </a:rPr>
              <a:t>Department</a:t>
            </a:r>
            <a:r>
              <a:rPr sz="2200" spc="-25" dirty="0">
                <a:latin typeface="Times New Roman" panose="02020603050405020304"/>
                <a:cs typeface="Times New Roman" panose="02020603050405020304"/>
              </a:rPr>
              <a:t> </a:t>
            </a:r>
            <a:r>
              <a:rPr sz="2200" dirty="0">
                <a:latin typeface="Times New Roman" panose="02020603050405020304"/>
                <a:cs typeface="Times New Roman" panose="02020603050405020304"/>
              </a:rPr>
              <a:t>of</a:t>
            </a:r>
            <a:r>
              <a:rPr sz="2200" spc="-15" dirty="0">
                <a:latin typeface="Times New Roman" panose="02020603050405020304"/>
                <a:cs typeface="Times New Roman" panose="02020603050405020304"/>
              </a:rPr>
              <a:t> </a:t>
            </a:r>
            <a:r>
              <a:rPr sz="2200" dirty="0">
                <a:latin typeface="Times New Roman" panose="02020603050405020304"/>
                <a:cs typeface="Times New Roman" panose="02020603050405020304"/>
              </a:rPr>
              <a:t>Computer</a:t>
            </a:r>
            <a:r>
              <a:rPr sz="2200" spc="-15" dirty="0">
                <a:latin typeface="Times New Roman" panose="02020603050405020304"/>
                <a:cs typeface="Times New Roman" panose="02020603050405020304"/>
              </a:rPr>
              <a:t> </a:t>
            </a:r>
            <a:r>
              <a:rPr sz="2200" dirty="0">
                <a:latin typeface="Times New Roman" panose="02020603050405020304"/>
                <a:cs typeface="Times New Roman" panose="02020603050405020304"/>
              </a:rPr>
              <a:t>Science</a:t>
            </a:r>
            <a:r>
              <a:rPr sz="2200" spc="-20" dirty="0">
                <a:latin typeface="Times New Roman" panose="02020603050405020304"/>
                <a:cs typeface="Times New Roman" panose="02020603050405020304"/>
              </a:rPr>
              <a:t> </a:t>
            </a:r>
            <a:r>
              <a:rPr sz="2200" dirty="0">
                <a:latin typeface="Times New Roman" panose="02020603050405020304"/>
                <a:cs typeface="Times New Roman" panose="02020603050405020304"/>
              </a:rPr>
              <a:t>and</a:t>
            </a:r>
            <a:r>
              <a:rPr sz="2200" spc="-15" dirty="0">
                <a:latin typeface="Times New Roman" panose="02020603050405020304"/>
                <a:cs typeface="Times New Roman" panose="02020603050405020304"/>
              </a:rPr>
              <a:t> </a:t>
            </a:r>
            <a:r>
              <a:rPr sz="2200" dirty="0">
                <a:latin typeface="Times New Roman" panose="02020603050405020304"/>
                <a:cs typeface="Times New Roman" panose="02020603050405020304"/>
              </a:rPr>
              <a:t>Engineering</a:t>
            </a:r>
            <a:r>
              <a:rPr sz="2200" spc="-15" dirty="0">
                <a:latin typeface="Times New Roman" panose="02020603050405020304"/>
                <a:cs typeface="Times New Roman" panose="02020603050405020304"/>
              </a:rPr>
              <a:t> </a:t>
            </a:r>
            <a:endParaRPr sz="2200">
              <a:latin typeface="Times New Roman" panose="02020603050405020304"/>
              <a:cs typeface="Times New Roman" panose="02020603050405020304"/>
            </a:endParaRPr>
          </a:p>
          <a:p>
            <a:pPr algn="ctr">
              <a:lnSpc>
                <a:spcPts val="3565"/>
              </a:lnSpc>
            </a:pPr>
            <a:r>
              <a:rPr sz="3400" dirty="0">
                <a:solidFill>
                  <a:srgbClr val="FF0000"/>
                </a:solidFill>
                <a:latin typeface="Times New Roman" panose="02020603050405020304"/>
                <a:cs typeface="Times New Roman" panose="02020603050405020304"/>
              </a:rPr>
              <a:t>Srinivasa</a:t>
            </a:r>
            <a:r>
              <a:rPr sz="3400" spc="-20" dirty="0">
                <a:solidFill>
                  <a:srgbClr val="FF0000"/>
                </a:solidFill>
                <a:latin typeface="Times New Roman" panose="02020603050405020304"/>
                <a:cs typeface="Times New Roman" panose="02020603050405020304"/>
              </a:rPr>
              <a:t> </a:t>
            </a:r>
            <a:r>
              <a:rPr sz="3400" dirty="0">
                <a:solidFill>
                  <a:srgbClr val="FF0000"/>
                </a:solidFill>
                <a:latin typeface="Times New Roman" panose="02020603050405020304"/>
                <a:cs typeface="Times New Roman" panose="02020603050405020304"/>
              </a:rPr>
              <a:t>Ramanujan</a:t>
            </a:r>
            <a:r>
              <a:rPr sz="3400" spc="-20" dirty="0">
                <a:solidFill>
                  <a:srgbClr val="FF0000"/>
                </a:solidFill>
                <a:latin typeface="Times New Roman" panose="02020603050405020304"/>
                <a:cs typeface="Times New Roman" panose="02020603050405020304"/>
              </a:rPr>
              <a:t> </a:t>
            </a:r>
            <a:r>
              <a:rPr sz="3400" dirty="0">
                <a:solidFill>
                  <a:srgbClr val="FF0000"/>
                </a:solidFill>
                <a:latin typeface="Times New Roman" panose="02020603050405020304"/>
                <a:cs typeface="Times New Roman" panose="02020603050405020304"/>
              </a:rPr>
              <a:t>Institute</a:t>
            </a:r>
            <a:r>
              <a:rPr sz="3400" spc="-20" dirty="0">
                <a:solidFill>
                  <a:srgbClr val="FF0000"/>
                </a:solidFill>
                <a:latin typeface="Times New Roman" panose="02020603050405020304"/>
                <a:cs typeface="Times New Roman" panose="02020603050405020304"/>
              </a:rPr>
              <a:t> </a:t>
            </a:r>
            <a:r>
              <a:rPr sz="3400" dirty="0">
                <a:solidFill>
                  <a:srgbClr val="FF0000"/>
                </a:solidFill>
                <a:latin typeface="Times New Roman" panose="02020603050405020304"/>
                <a:cs typeface="Times New Roman" panose="02020603050405020304"/>
              </a:rPr>
              <a:t>of</a:t>
            </a:r>
            <a:r>
              <a:rPr sz="3400" spc="-20" dirty="0">
                <a:solidFill>
                  <a:srgbClr val="FF0000"/>
                </a:solidFill>
                <a:latin typeface="Times New Roman" panose="02020603050405020304"/>
                <a:cs typeface="Times New Roman" panose="02020603050405020304"/>
              </a:rPr>
              <a:t> </a:t>
            </a:r>
            <a:r>
              <a:rPr sz="3400" spc="-10" dirty="0">
                <a:solidFill>
                  <a:srgbClr val="FF0000"/>
                </a:solidFill>
                <a:latin typeface="Times New Roman" panose="02020603050405020304"/>
                <a:cs typeface="Times New Roman" panose="02020603050405020304"/>
              </a:rPr>
              <a:t>Technology</a:t>
            </a:r>
            <a:endParaRPr sz="3400">
              <a:latin typeface="Times New Roman" panose="02020603050405020304"/>
              <a:cs typeface="Times New Roman" panose="02020603050405020304"/>
            </a:endParaRPr>
          </a:p>
          <a:p>
            <a:pPr marL="6350" algn="ctr">
              <a:lnSpc>
                <a:spcPts val="1850"/>
              </a:lnSpc>
            </a:pPr>
            <a:r>
              <a:rPr sz="1750" b="1" spc="-10" dirty="0">
                <a:latin typeface="Times New Roman" panose="02020603050405020304"/>
                <a:cs typeface="Times New Roman" panose="02020603050405020304"/>
              </a:rPr>
              <a:t>Autonomous</a:t>
            </a:r>
            <a:endParaRPr sz="1750">
              <a:latin typeface="Times New Roman" panose="02020603050405020304"/>
              <a:cs typeface="Times New Roman" panose="02020603050405020304"/>
            </a:endParaRPr>
          </a:p>
          <a:p>
            <a:pPr marL="7620" algn="ctr">
              <a:lnSpc>
                <a:spcPts val="1370"/>
              </a:lnSpc>
            </a:pPr>
            <a:r>
              <a:rPr sz="1200" b="1" dirty="0">
                <a:latin typeface="Times New Roman" panose="02020603050405020304"/>
                <a:cs typeface="Times New Roman" panose="02020603050405020304"/>
              </a:rPr>
              <a:t>Rotarypuram</a:t>
            </a:r>
            <a:r>
              <a:rPr sz="1200" b="1" spc="-10"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Village,</a:t>
            </a:r>
            <a:r>
              <a:rPr sz="1200" b="1" spc="-5"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B</a:t>
            </a:r>
            <a:r>
              <a:rPr sz="1200" b="1" spc="-10"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K</a:t>
            </a:r>
            <a:r>
              <a:rPr sz="1200" b="1" spc="-5"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Samudram</a:t>
            </a:r>
            <a:r>
              <a:rPr sz="1200" b="1" spc="-10"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Mandal,</a:t>
            </a:r>
            <a:r>
              <a:rPr sz="1200" b="1" spc="-5"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Ananthapuramu</a:t>
            </a:r>
            <a:r>
              <a:rPr sz="1200" b="1" spc="-10" dirty="0">
                <a:latin typeface="Times New Roman" panose="02020603050405020304"/>
                <a:cs typeface="Times New Roman" panose="02020603050405020304"/>
              </a:rPr>
              <a:t> </a:t>
            </a:r>
            <a:r>
              <a:rPr sz="1200" b="1" dirty="0">
                <a:latin typeface="Times New Roman" panose="02020603050405020304"/>
                <a:cs typeface="Times New Roman" panose="02020603050405020304"/>
              </a:rPr>
              <a:t>–</a:t>
            </a:r>
            <a:r>
              <a:rPr sz="1200" b="1" spc="-5" dirty="0">
                <a:latin typeface="Times New Roman" panose="02020603050405020304"/>
                <a:cs typeface="Times New Roman" panose="02020603050405020304"/>
              </a:rPr>
              <a:t> </a:t>
            </a:r>
            <a:r>
              <a:rPr sz="1200" b="1" spc="-10" dirty="0">
                <a:latin typeface="Times New Roman" panose="02020603050405020304"/>
                <a:cs typeface="Times New Roman" panose="02020603050405020304"/>
              </a:rPr>
              <a:t>515701.</a:t>
            </a:r>
            <a:endParaRPr sz="1200">
              <a:latin typeface="Times New Roman" panose="02020603050405020304"/>
              <a:cs typeface="Times New Roman" panose="02020603050405020304"/>
            </a:endParaRPr>
          </a:p>
          <a:p>
            <a:pPr marL="6985" algn="ctr">
              <a:lnSpc>
                <a:spcPct val="100000"/>
              </a:lnSpc>
              <a:spcBef>
                <a:spcPts val="545"/>
              </a:spcBef>
            </a:pPr>
            <a:r>
              <a:rPr sz="1300" b="1" dirty="0">
                <a:solidFill>
                  <a:srgbClr val="1E4E78"/>
                </a:solidFill>
                <a:latin typeface="Times New Roman" panose="02020603050405020304"/>
                <a:cs typeface="Times New Roman" panose="02020603050405020304"/>
              </a:rPr>
              <a:t>202</a:t>
            </a:r>
            <a:r>
              <a:rPr lang="en-IN" altLang="en-US" sz="1300" b="1" dirty="0">
                <a:solidFill>
                  <a:srgbClr val="1E4E78"/>
                </a:solidFill>
                <a:latin typeface="Times New Roman" panose="02020603050405020304"/>
                <a:cs typeface="Times New Roman" panose="02020603050405020304"/>
              </a:rPr>
              <a:t>5-</a:t>
            </a:r>
            <a:r>
              <a:rPr sz="1300" b="1" spc="-20" dirty="0">
                <a:solidFill>
                  <a:srgbClr val="1E4E78"/>
                </a:solidFill>
                <a:latin typeface="Times New Roman" panose="02020603050405020304"/>
                <a:cs typeface="Times New Roman" panose="02020603050405020304"/>
              </a:rPr>
              <a:t>202</a:t>
            </a:r>
            <a:r>
              <a:rPr lang="en-IN" altLang="en-US" sz="1300" b="1" spc="-20" dirty="0">
                <a:solidFill>
                  <a:srgbClr val="1E4E78"/>
                </a:solidFill>
                <a:latin typeface="Times New Roman" panose="02020603050405020304"/>
                <a:cs typeface="Times New Roman" panose="02020603050405020304"/>
              </a:rPr>
              <a:t>6</a:t>
            </a:r>
            <a:endParaRPr lang="en-IN" altLang="en-US" sz="1300" b="1" spc="-20" dirty="0">
              <a:solidFill>
                <a:srgbClr val="1E4E78"/>
              </a:solidFill>
              <a:latin typeface="Times New Roman" panose="02020603050405020304"/>
              <a:cs typeface="Times New Roman" panose="02020603050405020304"/>
            </a:endParaRPr>
          </a:p>
        </p:txBody>
      </p:sp>
      <p:sp>
        <p:nvSpPr>
          <p:cNvPr id="11" name="object 11"/>
          <p:cNvSpPr txBox="1"/>
          <p:nvPr/>
        </p:nvSpPr>
        <p:spPr>
          <a:xfrm>
            <a:off x="5181600" y="1737360"/>
            <a:ext cx="2414905" cy="455295"/>
          </a:xfrm>
          <a:prstGeom prst="rect">
            <a:avLst/>
          </a:prstGeom>
        </p:spPr>
        <p:txBody>
          <a:bodyPr vert="horz" wrap="square" lIns="0" tIns="14605" rIns="0" bIns="0" rtlCol="0">
            <a:spAutoFit/>
          </a:bodyPr>
          <a:lstStyle/>
          <a:p>
            <a:pPr algn="ctr">
              <a:lnSpc>
                <a:spcPts val="2380"/>
              </a:lnSpc>
              <a:spcBef>
                <a:spcPts val="115"/>
              </a:spcBef>
            </a:pPr>
            <a:r>
              <a:rPr lang="en-IN" altLang="en-US" sz="2400" dirty="0">
                <a:latin typeface="Times New Roman" panose="02020603050405020304"/>
                <a:cs typeface="Times New Roman" panose="02020603050405020304"/>
              </a:rPr>
              <a:t>RAJESHWARI K</a:t>
            </a:r>
            <a:endParaRPr sz="2400">
              <a:latin typeface="Times New Roman" panose="02020603050405020304"/>
              <a:cs typeface="Times New Roman" panose="02020603050405020304"/>
            </a:endParaRPr>
          </a:p>
          <a:p>
            <a:pPr marL="1270" algn="ctr">
              <a:lnSpc>
                <a:spcPts val="1060"/>
              </a:lnSpc>
            </a:pPr>
            <a:r>
              <a:rPr sz="1200" dirty="0">
                <a:latin typeface="Times New Roman" panose="02020603050405020304"/>
                <a:cs typeface="Times New Roman" panose="02020603050405020304"/>
              </a:rPr>
              <a:t>Roll</a:t>
            </a:r>
            <a:r>
              <a:rPr sz="1200" spc="40" dirty="0">
                <a:latin typeface="Times New Roman" panose="02020603050405020304"/>
                <a:cs typeface="Times New Roman" panose="02020603050405020304"/>
              </a:rPr>
              <a:t> </a:t>
            </a:r>
            <a:r>
              <a:rPr sz="1200" dirty="0">
                <a:latin typeface="Times New Roman" panose="02020603050405020304"/>
                <a:cs typeface="Times New Roman" panose="02020603050405020304"/>
              </a:rPr>
              <a:t>No.</a:t>
            </a:r>
            <a:r>
              <a:rPr sz="1200" spc="40" dirty="0">
                <a:latin typeface="Times New Roman" panose="02020603050405020304"/>
                <a:cs typeface="Times New Roman" panose="02020603050405020304"/>
              </a:rPr>
              <a:t> </a:t>
            </a:r>
            <a:r>
              <a:rPr lang="en-IN" altLang="en-US" sz="1200" spc="40" dirty="0">
                <a:latin typeface="Times New Roman" panose="02020603050405020304"/>
                <a:cs typeface="Times New Roman" panose="02020603050405020304"/>
              </a:rPr>
              <a:t>224G1A0579</a:t>
            </a:r>
            <a:endParaRPr lang="en-IN" altLang="en-US" sz="1200" spc="40" dirty="0">
              <a:latin typeface="Times New Roman" panose="02020603050405020304"/>
              <a:cs typeface="Times New Roman" panose="02020603050405020304"/>
            </a:endParaRPr>
          </a:p>
        </p:txBody>
      </p:sp>
      <p:sp>
        <p:nvSpPr>
          <p:cNvPr id="13" name="object 13"/>
          <p:cNvSpPr txBox="1"/>
          <p:nvPr/>
        </p:nvSpPr>
        <p:spPr>
          <a:xfrm>
            <a:off x="1904932" y="1621334"/>
            <a:ext cx="2169795" cy="571500"/>
          </a:xfrm>
          <a:prstGeom prst="rect">
            <a:avLst/>
          </a:prstGeom>
        </p:spPr>
        <p:txBody>
          <a:bodyPr vert="horz" wrap="square" lIns="0" tIns="13335" rIns="0" bIns="0" rtlCol="0">
            <a:spAutoFit/>
          </a:bodyPr>
          <a:lstStyle/>
          <a:p>
            <a:pPr algn="ctr">
              <a:lnSpc>
                <a:spcPct val="100000"/>
              </a:lnSpc>
              <a:spcBef>
                <a:spcPts val="105"/>
              </a:spcBef>
            </a:pPr>
            <a:r>
              <a:rPr lang="en-IN" altLang="en-US" sz="2400" spc="-10" dirty="0">
                <a:latin typeface="Times New Roman" panose="02020603050405020304"/>
                <a:cs typeface="Times New Roman" panose="02020603050405020304"/>
              </a:rPr>
              <a:t>PRANEESHA V</a:t>
            </a:r>
            <a:endParaRPr sz="2400">
              <a:latin typeface="Times New Roman" panose="02020603050405020304"/>
              <a:cs typeface="Times New Roman" panose="02020603050405020304"/>
            </a:endParaRPr>
          </a:p>
          <a:p>
            <a:pPr marL="1270" algn="ctr">
              <a:lnSpc>
                <a:spcPct val="100000"/>
              </a:lnSpc>
              <a:spcBef>
                <a:spcPts val="35"/>
              </a:spcBef>
            </a:pPr>
            <a:r>
              <a:rPr sz="1200" dirty="0">
                <a:latin typeface="Times New Roman" panose="02020603050405020304"/>
                <a:cs typeface="Times New Roman" panose="02020603050405020304"/>
              </a:rPr>
              <a:t>Roll No. </a:t>
            </a:r>
            <a:r>
              <a:rPr sz="1200" spc="-10" dirty="0">
                <a:latin typeface="Times New Roman" panose="02020603050405020304"/>
                <a:cs typeface="Times New Roman" panose="02020603050405020304"/>
              </a:rPr>
              <a:t>2</a:t>
            </a:r>
            <a:r>
              <a:rPr lang="en-IN" altLang="en-US" sz="1200" spc="-10" dirty="0">
                <a:latin typeface="Times New Roman" panose="02020603050405020304"/>
                <a:cs typeface="Times New Roman" panose="02020603050405020304"/>
              </a:rPr>
              <a:t>24G1A0573</a:t>
            </a:r>
            <a:endParaRPr lang="en-IN" altLang="en-US" sz="1200" spc="-10" dirty="0">
              <a:latin typeface="Times New Roman" panose="02020603050405020304"/>
              <a:cs typeface="Times New Roman" panose="02020603050405020304"/>
            </a:endParaRPr>
          </a:p>
        </p:txBody>
      </p:sp>
      <p:grpSp>
        <p:nvGrpSpPr>
          <p:cNvPr id="14" name="object 14"/>
          <p:cNvGrpSpPr/>
          <p:nvPr/>
        </p:nvGrpSpPr>
        <p:grpSpPr>
          <a:xfrm>
            <a:off x="715009" y="318271"/>
            <a:ext cx="10608310" cy="937894"/>
            <a:chOff x="715009" y="318271"/>
            <a:chExt cx="10608310" cy="937894"/>
          </a:xfrm>
        </p:grpSpPr>
        <p:pic>
          <p:nvPicPr>
            <p:cNvPr id="15" name="object 15"/>
            <p:cNvPicPr/>
            <p:nvPr/>
          </p:nvPicPr>
          <p:blipFill>
            <a:blip r:embed="rId1"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p:txBody>
        </p:sp>
      </p:grpSp>
      <p:sp>
        <p:nvSpPr>
          <p:cNvPr id="17" name="object 17"/>
          <p:cNvSpPr txBox="1">
            <a:spLocks noGrp="1"/>
          </p:cNvSpPr>
          <p:nvPr>
            <p:ph type="title"/>
          </p:nvPr>
        </p:nvSpPr>
        <p:spPr>
          <a:xfrm>
            <a:off x="777240" y="491490"/>
            <a:ext cx="10445115" cy="443230"/>
          </a:xfrm>
          <a:prstGeom prst="rect">
            <a:avLst/>
          </a:prstGeom>
        </p:spPr>
        <p:txBody>
          <a:bodyPr vert="horz" wrap="square" lIns="0" tIns="12700" rIns="0" bIns="0" rtlCol="0">
            <a:spAutoFit/>
          </a:bodyPr>
          <a:lstStyle/>
          <a:p>
            <a:pPr marL="12700" algn="ctr">
              <a:lnSpc>
                <a:spcPct val="100000"/>
              </a:lnSpc>
              <a:spcBef>
                <a:spcPts val="100"/>
              </a:spcBef>
            </a:pPr>
            <a:r>
              <a:rPr lang="en-IN" sz="2800" dirty="0"/>
              <a:t>DETECTION OF PNEUMONIA USING NEURAl NETWORKS</a:t>
            </a:r>
            <a:endParaRPr lang="en-IN" sz="2800" dirty="0"/>
          </a:p>
        </p:txBody>
      </p:sp>
      <p:sp>
        <p:nvSpPr>
          <p:cNvPr id="18" name="object 18"/>
          <p:cNvSpPr txBox="1"/>
          <p:nvPr/>
        </p:nvSpPr>
        <p:spPr>
          <a:xfrm>
            <a:off x="5987420" y="1278968"/>
            <a:ext cx="217170" cy="269240"/>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panose="02020603050405020304"/>
                <a:cs typeface="Times New Roman" panose="02020603050405020304"/>
              </a:rPr>
              <a:t>by</a:t>
            </a:r>
            <a:endParaRPr sz="1600">
              <a:latin typeface="Times New Roman" panose="02020603050405020304"/>
              <a:cs typeface="Times New Roman" panose="02020603050405020304"/>
            </a:endParaRPr>
          </a:p>
        </p:txBody>
      </p:sp>
      <p:pic>
        <p:nvPicPr>
          <p:cNvPr id="19" name="object 19"/>
          <p:cNvPicPr/>
          <p:nvPr/>
        </p:nvPicPr>
        <p:blipFill>
          <a:blip r:embed="rId2" cstate="print"/>
          <a:stretch>
            <a:fillRect/>
          </a:stretch>
        </p:blipFill>
        <p:spPr>
          <a:xfrm>
            <a:off x="5332301" y="3477045"/>
            <a:ext cx="1527378" cy="16854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00400" y="-14605"/>
            <a:ext cx="5634355"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1"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endParaRPr spc="-10" dirty="0"/>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spc="-25" dirty="0"/>
              <a:t>B - 06</a:t>
            </a:r>
            <a:endParaRPr lang="en-IN"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7" name="object 7"/>
          <p:cNvSpPr txBox="1"/>
          <p:nvPr/>
        </p:nvSpPr>
        <p:spPr>
          <a:xfrm>
            <a:off x="325787" y="989990"/>
            <a:ext cx="9460230" cy="4625340"/>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panose="02020603050405020304"/>
                <a:cs typeface="Times New Roman" panose="02020603050405020304"/>
              </a:rPr>
              <a:t>Title</a:t>
            </a:r>
            <a:r>
              <a:rPr sz="2800" spc="-25"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Justification</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spc="-10" dirty="0">
                <a:latin typeface="Times New Roman" panose="02020603050405020304"/>
                <a:cs typeface="Times New Roman" panose="02020603050405020304"/>
              </a:rPr>
              <a:t>Abstract</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dirty="0">
                <a:latin typeface="Times New Roman" panose="02020603050405020304"/>
                <a:cs typeface="Times New Roman" panose="02020603050405020304"/>
              </a:rPr>
              <a:t>Problem</a:t>
            </a:r>
            <a:r>
              <a:rPr sz="2800" spc="-35"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statement</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dirty="0">
                <a:latin typeface="Times New Roman" panose="02020603050405020304"/>
                <a:cs typeface="Times New Roman" panose="02020603050405020304"/>
              </a:rPr>
              <a:t>Objectives</a:t>
            </a:r>
            <a:r>
              <a:rPr sz="2800" spc="-40" dirty="0">
                <a:latin typeface="Times New Roman" panose="02020603050405020304"/>
                <a:cs typeface="Times New Roman" panose="02020603050405020304"/>
              </a:rPr>
              <a:t> </a:t>
            </a:r>
            <a:r>
              <a:rPr sz="2800" dirty="0">
                <a:latin typeface="Times New Roman" panose="02020603050405020304"/>
                <a:cs typeface="Times New Roman" panose="02020603050405020304"/>
              </a:rPr>
              <a:t>of</a:t>
            </a:r>
            <a:r>
              <a:rPr sz="2800" spc="-35"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Project</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dirty="0">
                <a:latin typeface="Times New Roman" panose="02020603050405020304"/>
                <a:cs typeface="Times New Roman" panose="02020603050405020304"/>
              </a:rPr>
              <a:t>Literature</a:t>
            </a:r>
            <a:r>
              <a:rPr sz="2800" spc="-35" dirty="0">
                <a:latin typeface="Times New Roman" panose="02020603050405020304"/>
                <a:cs typeface="Times New Roman" panose="02020603050405020304"/>
              </a:rPr>
              <a:t> </a:t>
            </a:r>
            <a:r>
              <a:rPr sz="2800" dirty="0">
                <a:latin typeface="Times New Roman" panose="02020603050405020304"/>
                <a:cs typeface="Times New Roman" panose="02020603050405020304"/>
              </a:rPr>
              <a:t>survey</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for</a:t>
            </a:r>
            <a:r>
              <a:rPr sz="2800" spc="-25"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objectives</a:t>
            </a:r>
            <a:endParaRPr sz="2800">
              <a:latin typeface="Times New Roman" panose="02020603050405020304"/>
              <a:cs typeface="Times New Roman" panose="02020603050405020304"/>
            </a:endParaRPr>
          </a:p>
          <a:p>
            <a:pPr marL="421005" indent="-408305">
              <a:lnSpc>
                <a:spcPct val="100000"/>
              </a:lnSpc>
              <a:spcBef>
                <a:spcPts val="660"/>
              </a:spcBef>
              <a:buChar char="•"/>
              <a:tabLst>
                <a:tab pos="421005" algn="l"/>
              </a:tabLst>
            </a:pPr>
            <a:r>
              <a:rPr sz="2800" dirty="0">
                <a:latin typeface="Times New Roman" panose="02020603050405020304"/>
                <a:cs typeface="Times New Roman" panose="02020603050405020304"/>
              </a:rPr>
              <a:t>Proposed</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Work</a:t>
            </a:r>
            <a:r>
              <a:rPr sz="2800" spc="-20"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a:t>
            </a:r>
            <a:r>
              <a:rPr sz="2800" dirty="0">
                <a:latin typeface="Times New Roman" panose="02020603050405020304"/>
                <a:cs typeface="Times New Roman" panose="02020603050405020304"/>
              </a:rPr>
              <a:t>(Methods</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to</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be</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followed</a:t>
            </a:r>
            <a:r>
              <a:rPr sz="2800" spc="-20" dirty="0">
                <a:latin typeface="Times New Roman" panose="02020603050405020304"/>
                <a:cs typeface="Times New Roman" panose="02020603050405020304"/>
              </a:rPr>
              <a:t> </a:t>
            </a:r>
            <a:r>
              <a:rPr sz="2800" dirty="0">
                <a:latin typeface="Times New Roman" panose="02020603050405020304"/>
                <a:cs typeface="Times New Roman" panose="02020603050405020304"/>
              </a:rPr>
              <a:t>for</a:t>
            </a:r>
            <a:r>
              <a:rPr sz="2800" spc="-25" dirty="0">
                <a:latin typeface="Times New Roman" panose="02020603050405020304"/>
                <a:cs typeface="Times New Roman" panose="02020603050405020304"/>
              </a:rPr>
              <a:t> </a:t>
            </a:r>
            <a:r>
              <a:rPr sz="2800" dirty="0">
                <a:latin typeface="Times New Roman" panose="02020603050405020304"/>
                <a:cs typeface="Times New Roman" panose="02020603050405020304"/>
              </a:rPr>
              <a:t>proposed</a:t>
            </a:r>
            <a:r>
              <a:rPr sz="2800" spc="-20" dirty="0">
                <a:latin typeface="Times New Roman" panose="02020603050405020304"/>
                <a:cs typeface="Times New Roman" panose="02020603050405020304"/>
              </a:rPr>
              <a:t> </a:t>
            </a:r>
            <a:r>
              <a:rPr sz="2800" spc="-10" dirty="0">
                <a:latin typeface="Times New Roman" panose="02020603050405020304"/>
                <a:cs typeface="Times New Roman" panose="02020603050405020304"/>
              </a:rPr>
              <a:t>system)</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spc="-10" dirty="0">
                <a:latin typeface="Times New Roman" panose="02020603050405020304"/>
                <a:cs typeface="Times New Roman" panose="02020603050405020304"/>
              </a:rPr>
              <a:t>References</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dirty="0">
                <a:latin typeface="Times New Roman" panose="02020603050405020304"/>
                <a:cs typeface="Times New Roman" panose="02020603050405020304"/>
              </a:rPr>
              <a:t>GitHub </a:t>
            </a:r>
            <a:r>
              <a:rPr sz="2800" spc="-20" dirty="0">
                <a:latin typeface="Times New Roman" panose="02020603050405020304"/>
                <a:cs typeface="Times New Roman" panose="02020603050405020304"/>
              </a:rPr>
              <a:t>Link</a:t>
            </a:r>
            <a:endParaRPr sz="2800">
              <a:latin typeface="Times New Roman" panose="02020603050405020304"/>
              <a:cs typeface="Times New Roman" panose="02020603050405020304"/>
            </a:endParaRPr>
          </a:p>
          <a:p>
            <a:pPr marL="421005" indent="-408305">
              <a:lnSpc>
                <a:spcPct val="100000"/>
              </a:lnSpc>
              <a:spcBef>
                <a:spcPts val="665"/>
              </a:spcBef>
              <a:buChar char="•"/>
              <a:tabLst>
                <a:tab pos="421005" algn="l"/>
              </a:tabLst>
            </a:pPr>
            <a:r>
              <a:rPr sz="2800" spc="-10" dirty="0">
                <a:latin typeface="Times New Roman" panose="02020603050405020304"/>
                <a:cs typeface="Times New Roman" panose="02020603050405020304"/>
              </a:rPr>
              <a:t>Queries</a:t>
            </a:r>
            <a:endParaRPr sz="2800">
              <a:latin typeface="Times New Roman" panose="02020603050405020304"/>
              <a:cs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3" name="object 3"/>
          <p:cNvSpPr txBox="1"/>
          <p:nvPr/>
        </p:nvSpPr>
        <p:spPr>
          <a:xfrm>
            <a:off x="3892550" y="-18415"/>
            <a:ext cx="5514340" cy="243205"/>
          </a:xfrm>
          <a:prstGeom prst="rect">
            <a:avLst/>
          </a:prstGeom>
        </p:spPr>
        <p:txBody>
          <a:bodyPr vert="horz" wrap="square" lIns="0" tIns="12700" rIns="0" bIns="0" rtlCol="0">
            <a:spAutoFit/>
          </a:bodyPr>
          <a:lstStyle/>
          <a:p>
            <a:pPr marL="12700" algn="ctr">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OFOF PNEUMONIA USING NEURAL NETWORKS</a:t>
            </a:r>
            <a:endParaRPr sz="1500">
              <a:latin typeface="Times New Roman" panose="02020603050405020304"/>
              <a:cs typeface="Times New Roman" panose="02020603050405020304"/>
            </a:endParaRPr>
          </a:p>
        </p:txBody>
      </p:sp>
      <p:grpSp>
        <p:nvGrpSpPr>
          <p:cNvPr id="4" name="object 4"/>
          <p:cNvGrpSpPr/>
          <p:nvPr/>
        </p:nvGrpSpPr>
        <p:grpSpPr>
          <a:xfrm>
            <a:off x="0" y="212399"/>
            <a:ext cx="12192000" cy="803275"/>
            <a:chOff x="0" y="212399"/>
            <a:chExt cx="12192000" cy="803275"/>
          </a:xfrm>
        </p:grpSpPr>
        <p:pic>
          <p:nvPicPr>
            <p:cNvPr id="5" name="object 5"/>
            <p:cNvPicPr/>
            <p:nvPr/>
          </p:nvPicPr>
          <p:blipFill>
            <a:blip r:embed="rId1" cstate="print"/>
            <a:stretch>
              <a:fillRect/>
            </a:stretch>
          </p:blipFill>
          <p:spPr>
            <a:xfrm>
              <a:off x="0" y="212399"/>
              <a:ext cx="12192000" cy="803160"/>
            </a:xfrm>
            <a:prstGeom prst="rect">
              <a:avLst/>
            </a:prstGeom>
          </p:spPr>
        </p:pic>
        <p:sp>
          <p:nvSpPr>
            <p:cNvPr id="6" name="object 6"/>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7" name="object 7"/>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solidFill>
                  <a:schemeClr val="bg1"/>
                </a:solidFill>
              </a:rPr>
              <a:t>Title</a:t>
            </a:r>
            <a:r>
              <a:rPr spc="-110" dirty="0">
                <a:solidFill>
                  <a:schemeClr val="bg1"/>
                </a:solidFill>
              </a:rPr>
              <a:t> </a:t>
            </a:r>
            <a:r>
              <a:rPr spc="-10" dirty="0">
                <a:solidFill>
                  <a:schemeClr val="bg1"/>
                </a:solidFill>
              </a:rPr>
              <a:t>Justification</a:t>
            </a:r>
            <a:endParaRPr spc="-10" dirty="0">
              <a:solidFill>
                <a:schemeClr val="bg1"/>
              </a:solidFill>
            </a:endParaRPr>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t>B-06</a:t>
            </a:r>
            <a:endParaRPr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12" name="Text Box 11"/>
          <p:cNvSpPr txBox="1"/>
          <p:nvPr/>
        </p:nvSpPr>
        <p:spPr>
          <a:xfrm>
            <a:off x="287020" y="1363345"/>
            <a:ext cx="10539730" cy="4202430"/>
          </a:xfrm>
          <a:prstGeom prst="rect">
            <a:avLst/>
          </a:prstGeom>
          <a:noFill/>
        </p:spPr>
        <p:txBody>
          <a:bodyPr wrap="square" rtlCol="0">
            <a:noAutofit/>
          </a:bodyPr>
          <a:p>
            <a:r>
              <a:rPr lang="en-US" altLang="en-US" sz="2800">
                <a:latin typeface="Times New Roman" panose="02020603050405020304" charset="0"/>
                <a:cs typeface="Times New Roman" panose="02020603050405020304" charset="0"/>
              </a:rPr>
              <a:t>“Detection of Pneumonia Using Neural Networks” reflects the core objectives of the project:</a:t>
            </a:r>
            <a:endParaRPr lang="en-US" altLang="en-US" sz="2800">
              <a:latin typeface="Times New Roman" panose="02020603050405020304" charset="0"/>
              <a:cs typeface="Times New Roman" panose="02020603050405020304" charset="0"/>
            </a:endParaRPr>
          </a:p>
          <a:p>
            <a:endParaRPr lang="en-US" altLang="en-US" sz="2800">
              <a:latin typeface="Times New Roman" panose="02020603050405020304" charset="0"/>
              <a:cs typeface="Times New Roman" panose="02020603050405020304" charset="0"/>
            </a:endParaRPr>
          </a:p>
          <a:p>
            <a:r>
              <a:rPr lang="en-US" altLang="en-US" sz="2800" b="1">
                <a:latin typeface="Times New Roman" panose="02020603050405020304" charset="0"/>
                <a:cs typeface="Times New Roman" panose="02020603050405020304" charset="0"/>
              </a:rPr>
              <a:t>Medical relevance</a:t>
            </a:r>
            <a:r>
              <a:rPr lang="en-US" altLang="en-US" sz="2800">
                <a:latin typeface="Times New Roman" panose="02020603050405020304" charset="0"/>
                <a:cs typeface="Times New Roman" panose="02020603050405020304" charset="0"/>
              </a:rPr>
              <a:t> → Detecting pneumonia from diagnostic imaging.</a:t>
            </a:r>
            <a:endParaRPr lang="en-US" altLang="en-US" sz="2800">
              <a:latin typeface="Times New Roman" panose="02020603050405020304" charset="0"/>
              <a:cs typeface="Times New Roman" panose="02020603050405020304" charset="0"/>
            </a:endParaRPr>
          </a:p>
          <a:p>
            <a:endParaRPr lang="en-US" altLang="en-US" sz="2800">
              <a:latin typeface="Times New Roman" panose="02020603050405020304" charset="0"/>
              <a:cs typeface="Times New Roman" panose="02020603050405020304" charset="0"/>
            </a:endParaRPr>
          </a:p>
          <a:p>
            <a:r>
              <a:rPr lang="en-US" altLang="en-US" sz="2800" b="1">
                <a:latin typeface="Times New Roman" panose="02020603050405020304" charset="0"/>
                <a:cs typeface="Times New Roman" panose="02020603050405020304" charset="0"/>
              </a:rPr>
              <a:t>Technological approach </a:t>
            </a:r>
            <a:r>
              <a:rPr lang="en-US" altLang="en-US" sz="2800">
                <a:latin typeface="Times New Roman" panose="02020603050405020304" charset="0"/>
                <a:cs typeface="Times New Roman" panose="02020603050405020304" charset="0"/>
              </a:rPr>
              <a:t>→ Utilizing neural network architectures capable of advanced feature extraction and classification.</a:t>
            </a:r>
            <a:endParaRPr lang="en-US" altLang="en-US" sz="2800">
              <a:latin typeface="Times New Roman" panose="02020603050405020304" charset="0"/>
              <a:cs typeface="Times New Roman" panose="02020603050405020304" charset="0"/>
            </a:endParaRPr>
          </a:p>
          <a:p>
            <a:endParaRPr lang="en-US" altLang="en-US" sz="2800">
              <a:latin typeface="Times New Roman" panose="02020603050405020304" charset="0"/>
              <a:cs typeface="Times New Roman" panose="02020603050405020304" charset="0"/>
            </a:endParaRPr>
          </a:p>
          <a:p>
            <a:r>
              <a:rPr lang="en-US" altLang="en-US" sz="2800" b="1">
                <a:latin typeface="Times New Roman" panose="02020603050405020304" charset="0"/>
                <a:cs typeface="Times New Roman" panose="02020603050405020304" charset="0"/>
              </a:rPr>
              <a:t>Practical impact </a:t>
            </a:r>
            <a:r>
              <a:rPr lang="en-US" altLang="en-US" sz="2800">
                <a:latin typeface="Times New Roman" panose="02020603050405020304" charset="0"/>
                <a:cs typeface="Times New Roman" panose="02020603050405020304" charset="0"/>
              </a:rPr>
              <a:t>→ Supporting healthcare professionals in early decision-making and improving patient outcomes.</a:t>
            </a:r>
            <a:endParaRPr lang="en-US" sz="2800">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92550" y="-18415"/>
            <a:ext cx="542925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dirty="0">
                <a:solidFill>
                  <a:srgbClr val="FFFFFF"/>
                </a:solidFill>
                <a:latin typeface="Times New Roman" panose="02020603050405020304"/>
                <a:cs typeface="Times New Roman" panose="02020603050405020304"/>
              </a:rPr>
              <a:t>DETECTION OF PNEUMONIA USING NEURAL NETWORKS</a:t>
            </a:r>
            <a:endParaRPr sz="1500">
              <a:latin typeface="Times New Roman" panose="02020603050405020304"/>
              <a:cs typeface="Times New Roman" panose="02020603050405020304"/>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1"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a:spLocks noGrp="1"/>
          </p:cNvSpPr>
          <p:nvPr>
            <p:ph type="title"/>
          </p:nvPr>
        </p:nvSpPr>
        <p:spPr>
          <a:xfrm>
            <a:off x="152400" y="216535"/>
            <a:ext cx="2763520" cy="689610"/>
          </a:xfrm>
          <a:prstGeom prst="rect">
            <a:avLst/>
          </a:prstGeom>
        </p:spPr>
        <p:txBody>
          <a:bodyPr vert="horz" wrap="square" lIns="0" tIns="12700" rIns="0" bIns="0" rtlCol="0">
            <a:spAutoFit/>
          </a:bodyPr>
          <a:lstStyle/>
          <a:p>
            <a:pPr marL="12700">
              <a:lnSpc>
                <a:spcPct val="100000"/>
              </a:lnSpc>
              <a:spcBef>
                <a:spcPts val="100"/>
              </a:spcBef>
            </a:pPr>
            <a:r>
              <a:rPr spc="-10" dirty="0">
                <a:solidFill>
                  <a:schemeClr val="bg1"/>
                </a:solidFill>
              </a:rPr>
              <a:t>Abstract</a:t>
            </a:r>
            <a:endParaRPr spc="-10" dirty="0">
              <a:solidFill>
                <a:schemeClr val="bg1"/>
              </a:solidFill>
            </a:endParaRPr>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12" name="Text Box 11"/>
          <p:cNvSpPr txBox="1"/>
          <p:nvPr/>
        </p:nvSpPr>
        <p:spPr>
          <a:xfrm>
            <a:off x="161290" y="1121410"/>
            <a:ext cx="11488420" cy="5318760"/>
          </a:xfrm>
          <a:prstGeom prst="rect">
            <a:avLst/>
          </a:prstGeom>
          <a:noFill/>
        </p:spPr>
        <p:txBody>
          <a:bodyPr wrap="square" rtlCol="0">
            <a:noAutofit/>
          </a:bodyPr>
          <a:p>
            <a:r>
              <a:rPr lang="en-US" altLang="en-US" sz="2800">
                <a:latin typeface="Times New Roman" panose="02020603050405020304" charset="0"/>
                <a:cs typeface="Times New Roman" panose="02020603050405020304" charset="0"/>
              </a:rPr>
              <a:t>Pneumonia is a common and potentially life-threatening respiratory infection that affects millions of people worldwide. Early detection and accurate diagnosis of pneumonia are essential for effective treatment and management of the disease. In recent years, machine learning and computer vision techniques have shown great promise in the detection of pneumonia from medical images such as chest X-rays. We are trying to build feature extraction models like VGG16, ResNet50, and InceptionV3 for better performance of the model. The model performance can be calculated based on accuracy and loss. This approach aims to identify the most efficient deep learning architecture capable of generalizing well to unseen medical images. The research also explores how preprocessing and model fine-tuning influence predictive performance in real-world clinical scenarios.</a:t>
            </a:r>
            <a:endParaRPr lang="en-US" altLang="en-US" sz="2800">
              <a:latin typeface="Times New Roman" panose="02020603050405020304" charset="0"/>
              <a:cs typeface="Times New Roman" panose="02020603050405020304" charset="0"/>
            </a:endParaRPr>
          </a:p>
          <a:p>
            <a:endParaRPr lang="en-US" altLang="en-US" sz="2800">
              <a:latin typeface="Times New Roman" panose="02020603050405020304" charset="0"/>
              <a:cs typeface="Times New Roman"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0" y="0"/>
            <a:ext cx="524129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1"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endParaRPr spc="-10" dirty="0"/>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7" name="object 7"/>
          <p:cNvSpPr txBox="1">
            <a:spLocks noGrp="1"/>
          </p:cNvSpPr>
          <p:nvPr>
            <p:ph type="body" idx="1"/>
          </p:nvPr>
        </p:nvSpPr>
        <p:spPr>
          <a:xfrm>
            <a:off x="236899" y="1074318"/>
            <a:ext cx="11346815" cy="4936490"/>
          </a:xfrm>
          <a:prstGeom prst="rect">
            <a:avLst/>
          </a:prstGeom>
        </p:spPr>
        <p:txBody>
          <a:bodyPr vert="horz" wrap="square" lIns="0" tIns="60960" rIns="0" bIns="0" rtlCol="0">
            <a:spAutoFit/>
          </a:bodyPr>
          <a:lstStyle/>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r>
              <a:rPr lang="en-US" altLang="en-US" spc="-10" dirty="0"/>
              <a:t>Pneumonia is one of the incurable diseases which should be detected in the</a:t>
            </a:r>
            <a:endParaRPr lang="en-US" altLang="en-US" spc="-10" dirty="0"/>
          </a:p>
          <a:p>
            <a:pPr marL="12700" marR="5080" indent="0">
              <a:lnSpc>
                <a:spcPts val="3020"/>
              </a:lnSpc>
              <a:spcBef>
                <a:spcPts val="480"/>
              </a:spcBef>
              <a:buFont typeface="Arial" panose="020B0604020202020204" pitchFamily="34" charset="0"/>
              <a:buNone/>
              <a:tabLst>
                <a:tab pos="504825" algn="l"/>
                <a:tab pos="2227580" algn="l"/>
                <a:tab pos="4404995" algn="l"/>
                <a:tab pos="4942840" algn="l"/>
                <a:tab pos="6308090" algn="l"/>
                <a:tab pos="7319645" algn="l"/>
                <a:tab pos="7838440" algn="l"/>
                <a:tab pos="9808210" algn="l"/>
                <a:tab pos="10503535" algn="l"/>
              </a:tabLst>
            </a:pPr>
            <a:r>
              <a:rPr lang="en-US" altLang="en-US" spc="-10" dirty="0"/>
              <a:t>early stages.</a:t>
            </a: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r>
              <a:rPr lang="en-US" altLang="en-US" spc="-10" dirty="0"/>
              <a:t>It can be identified in all age groups so it should be predicted and </a:t>
            </a:r>
            <a:endParaRPr lang="en-US" altLang="en-US" spc="-10" dirty="0"/>
          </a:p>
          <a:p>
            <a:pPr marL="12700" marR="5080" indent="0">
              <a:lnSpc>
                <a:spcPts val="3020"/>
              </a:lnSpc>
              <a:spcBef>
                <a:spcPts val="480"/>
              </a:spcBef>
              <a:buFont typeface="Arial" panose="020B0604020202020204" pitchFamily="34" charset="0"/>
              <a:buNone/>
              <a:tabLst>
                <a:tab pos="504825" algn="l"/>
                <a:tab pos="2227580" algn="l"/>
                <a:tab pos="4404995" algn="l"/>
                <a:tab pos="4942840" algn="l"/>
                <a:tab pos="6308090" algn="l"/>
                <a:tab pos="7319645" algn="l"/>
                <a:tab pos="7838440" algn="l"/>
                <a:tab pos="9808210" algn="l"/>
                <a:tab pos="10503535" algn="l"/>
              </a:tabLst>
            </a:pPr>
            <a:r>
              <a:rPr lang="en-US" altLang="en-US" spc="-10" dirty="0"/>
              <a:t>properly diagnosed.</a:t>
            </a: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r>
              <a:rPr lang="en-US" altLang="en-US" spc="-10" dirty="0"/>
              <a:t>In recent years, health monitoring systems have evolved and are  </a:t>
            </a:r>
            <a:endParaRPr lang="en-US" altLang="en-US" spc="-10" dirty="0"/>
          </a:p>
          <a:p>
            <a:pPr marL="12700" marR="5080" indent="0">
              <a:lnSpc>
                <a:spcPts val="3020"/>
              </a:lnSpc>
              <a:spcBef>
                <a:spcPts val="480"/>
              </a:spcBef>
              <a:buFont typeface="Arial" panose="020B0604020202020204" pitchFamily="34" charset="0"/>
              <a:buNone/>
              <a:tabLst>
                <a:tab pos="504825" algn="l"/>
                <a:tab pos="2227580" algn="l"/>
                <a:tab pos="4404995" algn="l"/>
                <a:tab pos="4942840" algn="l"/>
                <a:tab pos="6308090" algn="l"/>
                <a:tab pos="7319645" algn="l"/>
                <a:tab pos="7838440" algn="l"/>
                <a:tab pos="9808210" algn="l"/>
                <a:tab pos="10503535" algn="l"/>
              </a:tabLst>
            </a:pPr>
            <a:r>
              <a:rPr lang="en-US" altLang="en-US" spc="-10" dirty="0"/>
              <a:t>used to solve more challenging problems.</a:t>
            </a: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r>
              <a:rPr lang="en-US" altLang="en-US" spc="-10" dirty="0"/>
              <a:t>The main aim of this project is to perform efficient prediction.</a:t>
            </a:r>
            <a:endParaRPr lang="en-US" altLang="en-US" spc="-10" dirty="0"/>
          </a:p>
          <a:p>
            <a:pPr marL="469900" marR="5080" indent="-457200">
              <a:lnSpc>
                <a:spcPts val="3020"/>
              </a:lnSpc>
              <a:spcBef>
                <a:spcPts val="480"/>
              </a:spcBef>
              <a:buFont typeface="Arial" panose="020B0604020202020204" pitchFamily="34" charset="0"/>
              <a:buChar char="•"/>
              <a:tabLst>
                <a:tab pos="504825" algn="l"/>
                <a:tab pos="2227580" algn="l"/>
                <a:tab pos="4404995" algn="l"/>
                <a:tab pos="4942840" algn="l"/>
                <a:tab pos="6308090" algn="l"/>
                <a:tab pos="7319645" algn="l"/>
                <a:tab pos="7838440" algn="l"/>
                <a:tab pos="9808210" algn="l"/>
                <a:tab pos="10503535" algn="l"/>
              </a:tabLst>
            </a:pPr>
            <a:endParaRPr lang="en-US" altLang="en-US" spc="-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14140" y="-18415"/>
            <a:ext cx="524129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1"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endParaRPr spc="-10" dirty="0"/>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7" name="object 7"/>
          <p:cNvSpPr txBox="1"/>
          <p:nvPr/>
        </p:nvSpPr>
        <p:spPr>
          <a:xfrm>
            <a:off x="272465" y="1110318"/>
            <a:ext cx="11619230" cy="2661920"/>
          </a:xfrm>
          <a:prstGeom prst="rect">
            <a:avLst/>
          </a:prstGeom>
        </p:spPr>
        <p:txBody>
          <a:bodyPr vert="horz" wrap="square" lIns="0" tIns="12700" rIns="0" bIns="0" rtlCol="0">
            <a:spAutoFit/>
          </a:bodyPr>
          <a:lstStyle/>
          <a:p>
            <a:pPr marL="469900" indent="-457200">
              <a:lnSpc>
                <a:spcPct val="100000"/>
              </a:lnSpc>
              <a:spcBef>
                <a:spcPts val="100"/>
              </a:spcBef>
              <a:buFont typeface="Arial" panose="020B0604020202020204" pitchFamily="34" charset="0"/>
              <a:buChar char="•"/>
            </a:pPr>
            <a:r>
              <a:rPr lang="en-US" altLang="en-US" sz="2800">
                <a:latin typeface="Times New Roman" panose="02020603050405020304"/>
                <a:cs typeface="Times New Roman" panose="02020603050405020304"/>
              </a:rPr>
              <a:t>An approach to predict Pneumonia disease with higher accuracy</a:t>
            </a:r>
            <a:endParaRPr lang="en-US" altLang="en-US" sz="2800">
              <a:latin typeface="Times New Roman" panose="02020603050405020304"/>
              <a:cs typeface="Times New Roman" panose="02020603050405020304"/>
            </a:endParaRPr>
          </a:p>
          <a:p>
            <a:pPr marL="469900" indent="-457200">
              <a:lnSpc>
                <a:spcPct val="100000"/>
              </a:lnSpc>
              <a:spcBef>
                <a:spcPts val="100"/>
              </a:spcBef>
              <a:buFont typeface="Arial" panose="020B0604020202020204" pitchFamily="34" charset="0"/>
              <a:buChar char="•"/>
            </a:pPr>
            <a:endParaRPr lang="en-US" altLang="en-US" sz="2800">
              <a:latin typeface="Times New Roman" panose="02020603050405020304"/>
              <a:cs typeface="Times New Roman" panose="02020603050405020304"/>
            </a:endParaRPr>
          </a:p>
          <a:p>
            <a:pPr marL="469900" indent="-457200">
              <a:lnSpc>
                <a:spcPct val="100000"/>
              </a:lnSpc>
              <a:spcBef>
                <a:spcPts val="100"/>
              </a:spcBef>
              <a:buFont typeface="Arial" panose="020B0604020202020204" pitchFamily="34" charset="0"/>
              <a:buChar char="•"/>
            </a:pPr>
            <a:r>
              <a:rPr lang="en-US" altLang="en-US" sz="2800">
                <a:latin typeface="Times New Roman" panose="02020603050405020304"/>
                <a:cs typeface="Times New Roman" panose="02020603050405020304"/>
              </a:rPr>
              <a:t>To identify an efficient feature selection algorithm</a:t>
            </a:r>
            <a:endParaRPr lang="en-US" altLang="en-US" sz="2800">
              <a:latin typeface="Times New Roman" panose="02020603050405020304"/>
              <a:cs typeface="Times New Roman" panose="02020603050405020304"/>
            </a:endParaRPr>
          </a:p>
          <a:p>
            <a:pPr marL="469900" indent="-457200">
              <a:lnSpc>
                <a:spcPct val="100000"/>
              </a:lnSpc>
              <a:spcBef>
                <a:spcPts val="100"/>
              </a:spcBef>
              <a:buFont typeface="Arial" panose="020B0604020202020204" pitchFamily="34" charset="0"/>
              <a:buChar char="•"/>
            </a:pPr>
            <a:endParaRPr lang="en-US" altLang="en-US" sz="2800">
              <a:latin typeface="Times New Roman" panose="02020603050405020304"/>
              <a:cs typeface="Times New Roman" panose="02020603050405020304"/>
            </a:endParaRPr>
          </a:p>
          <a:p>
            <a:pPr marL="469900" indent="-457200">
              <a:lnSpc>
                <a:spcPct val="100000"/>
              </a:lnSpc>
              <a:spcBef>
                <a:spcPts val="100"/>
              </a:spcBef>
              <a:buFont typeface="Arial" panose="020B0604020202020204" pitchFamily="34" charset="0"/>
              <a:buChar char="•"/>
            </a:pPr>
            <a:r>
              <a:rPr lang="en-US" altLang="en-US" sz="2800">
                <a:latin typeface="Times New Roman" panose="02020603050405020304"/>
                <a:cs typeface="Times New Roman" panose="02020603050405020304"/>
              </a:rPr>
              <a:t>To build a model which predicts the disease efficiently </a:t>
            </a:r>
            <a:endParaRPr lang="en-US" altLang="en-US" sz="2800">
              <a:latin typeface="Times New Roman" panose="02020603050405020304"/>
              <a:cs typeface="Times New Roman" panose="02020603050405020304"/>
            </a:endParaRPr>
          </a:p>
          <a:p>
            <a:pPr marL="12700">
              <a:lnSpc>
                <a:spcPct val="100000"/>
              </a:lnSpc>
              <a:spcBef>
                <a:spcPts val="100"/>
              </a:spcBef>
            </a:pPr>
            <a:endParaRPr lang="en-US" altLang="en-US" sz="2800">
              <a:latin typeface="Times New Roman" panose="02020603050405020304"/>
              <a:cs typeface="Times New Roman" panose="020206030504050203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29000" y="-26670"/>
            <a:ext cx="523240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1"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p:nvPr/>
        </p:nvSpPr>
        <p:spPr>
          <a:xfrm>
            <a:off x="73025" y="304165"/>
            <a:ext cx="4808855" cy="643255"/>
          </a:xfrm>
          <a:prstGeom prst="rect">
            <a:avLst/>
          </a:prstGeom>
        </p:spPr>
        <p:txBody>
          <a:bodyPr vert="horz" wrap="square" lIns="0" tIns="12700" rIns="0" bIns="0" rtlCol="0">
            <a:noAutofit/>
          </a:bodyPr>
          <a:lstStyle/>
          <a:p>
            <a:pPr marL="12700">
              <a:lnSpc>
                <a:spcPct val="100000"/>
              </a:lnSpc>
              <a:spcBef>
                <a:spcPts val="100"/>
              </a:spcBef>
            </a:pPr>
            <a:r>
              <a:rPr sz="2800" dirty="0">
                <a:solidFill>
                  <a:schemeClr val="bg1"/>
                </a:solidFill>
                <a:latin typeface="Times New Roman" panose="02020603050405020304"/>
                <a:cs typeface="Times New Roman" panose="02020603050405020304"/>
              </a:rPr>
              <a:t>Literature</a:t>
            </a:r>
            <a:r>
              <a:rPr sz="2800" spc="-35" dirty="0">
                <a:solidFill>
                  <a:schemeClr val="bg1"/>
                </a:solidFill>
                <a:latin typeface="Times New Roman" panose="02020603050405020304"/>
                <a:cs typeface="Times New Roman" panose="02020603050405020304"/>
              </a:rPr>
              <a:t> </a:t>
            </a:r>
            <a:r>
              <a:rPr sz="2800" dirty="0">
                <a:solidFill>
                  <a:schemeClr val="bg1"/>
                </a:solidFill>
                <a:latin typeface="Times New Roman" panose="02020603050405020304"/>
                <a:cs typeface="Times New Roman" panose="02020603050405020304"/>
              </a:rPr>
              <a:t>survey</a:t>
            </a:r>
            <a:r>
              <a:rPr sz="2800" spc="-25" dirty="0">
                <a:solidFill>
                  <a:schemeClr val="bg1"/>
                </a:solidFill>
                <a:latin typeface="Times New Roman" panose="02020603050405020304"/>
                <a:cs typeface="Times New Roman" panose="02020603050405020304"/>
              </a:rPr>
              <a:t> </a:t>
            </a:r>
            <a:r>
              <a:rPr sz="2800" dirty="0">
                <a:solidFill>
                  <a:schemeClr val="bg1"/>
                </a:solidFill>
                <a:latin typeface="Times New Roman" panose="02020603050405020304"/>
                <a:cs typeface="Times New Roman" panose="02020603050405020304"/>
              </a:rPr>
              <a:t>for</a:t>
            </a:r>
            <a:r>
              <a:rPr sz="2800" spc="-25" dirty="0">
                <a:solidFill>
                  <a:schemeClr val="bg1"/>
                </a:solidFill>
                <a:latin typeface="Times New Roman" panose="02020603050405020304"/>
                <a:cs typeface="Times New Roman" panose="02020603050405020304"/>
              </a:rPr>
              <a:t> </a:t>
            </a:r>
            <a:r>
              <a:rPr sz="2800" spc="-10" dirty="0">
                <a:solidFill>
                  <a:schemeClr val="bg1"/>
                </a:solidFill>
                <a:latin typeface="Times New Roman" panose="02020603050405020304"/>
                <a:cs typeface="Times New Roman" panose="02020603050405020304"/>
              </a:rPr>
              <a:t>objectives</a:t>
            </a:r>
            <a:endParaRPr sz="2800">
              <a:solidFill>
                <a:schemeClr val="bg1"/>
              </a:solidFill>
              <a:latin typeface="Times New Roman" panose="02020603050405020304"/>
              <a:cs typeface="Times New Roman" panose="02020603050405020304"/>
            </a:endParaRPr>
          </a:p>
          <a:p>
            <a:pPr>
              <a:lnSpc>
                <a:spcPct val="100000"/>
              </a:lnSpc>
              <a:spcBef>
                <a:spcPts val="225"/>
              </a:spcBef>
            </a:pPr>
            <a:endParaRPr sz="2800">
              <a:latin typeface="Times New Roman" panose="02020603050405020304"/>
              <a:cs typeface="Times New Roman" panose="02020603050405020304"/>
            </a:endParaRPr>
          </a:p>
          <a:p>
            <a:pPr marL="176530">
              <a:lnSpc>
                <a:spcPct val="100000"/>
              </a:lnSpc>
            </a:pPr>
            <a:endParaRPr sz="2800">
              <a:latin typeface="Lucida Sans Unicode" panose="020B0602030504020204"/>
              <a:cs typeface="Lucida Sans Unicode" panose="020B0602030504020204"/>
            </a:endParaRPr>
          </a:p>
        </p:txBody>
      </p:sp>
      <p:sp>
        <p:nvSpPr>
          <p:cNvPr id="7" name="object 7"/>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spc="-25" dirty="0"/>
          </a:p>
        </p:txBody>
      </p:sp>
      <p:sp>
        <p:nvSpPr>
          <p:cNvPr id="8" name="object 8"/>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9" name="object 9"/>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0" name="object 10"/>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12" name="Text Box 11"/>
          <p:cNvSpPr txBox="1"/>
          <p:nvPr/>
        </p:nvSpPr>
        <p:spPr>
          <a:xfrm>
            <a:off x="1931670" y="2600325"/>
            <a:ext cx="4064000" cy="368300"/>
          </a:xfrm>
          <a:prstGeom prst="rect">
            <a:avLst/>
          </a:prstGeom>
          <a:noFill/>
        </p:spPr>
        <p:txBody>
          <a:bodyPr wrap="square" rtlCol="0">
            <a:spAutoFit/>
          </a:bodyPr>
          <a:p>
            <a:endParaRPr lang="en-US"/>
          </a:p>
        </p:txBody>
      </p:sp>
      <p:graphicFrame>
        <p:nvGraphicFramePr>
          <p:cNvPr id="14" name="Table 13"/>
          <p:cNvGraphicFramePr/>
          <p:nvPr>
            <p:custDataLst>
              <p:tags r:id="rId2"/>
            </p:custDataLst>
          </p:nvPr>
        </p:nvGraphicFramePr>
        <p:xfrm>
          <a:off x="149225" y="1240155"/>
          <a:ext cx="11781790" cy="3646170"/>
        </p:xfrm>
        <a:graphic>
          <a:graphicData uri="http://schemas.openxmlformats.org/drawingml/2006/table">
            <a:tbl>
              <a:tblPr firstRow="1" bandRow="1">
                <a:tableStyleId>{93296810-A885-4BE3-A3E7-6D5BEEA58F35}</a:tableStyleId>
              </a:tblPr>
              <a:tblGrid>
                <a:gridCol w="812800"/>
                <a:gridCol w="2248535"/>
                <a:gridCol w="4426585"/>
                <a:gridCol w="1905635"/>
                <a:gridCol w="2388235"/>
              </a:tblGrid>
              <a:tr h="666115">
                <a:tc>
                  <a:txBody>
                    <a:bodyPr/>
                    <a:p>
                      <a:pPr algn="ctr">
                        <a:buNone/>
                      </a:pPr>
                      <a:r>
                        <a:rPr lang="en-IN" altLang="en-US">
                          <a:latin typeface="Times New Roman" panose="02020603050405020304" charset="0"/>
                          <a:cs typeface="Times New Roman" panose="02020603050405020304" charset="0"/>
                        </a:rPr>
                        <a:t>S.NO</a:t>
                      </a:r>
                      <a:endParaRPr lang="en-IN" altLang="en-US">
                        <a:latin typeface="Times New Roman" panose="02020603050405020304" charset="0"/>
                        <a:cs typeface="Times New Roman" panose="02020603050405020304" charset="0"/>
                      </a:endParaRPr>
                    </a:p>
                  </a:txBody>
                  <a:tcPr/>
                </a:tc>
                <a:tc>
                  <a:txBody>
                    <a:bodyPr/>
                    <a:p>
                      <a:pPr algn="ctr">
                        <a:buNone/>
                      </a:pPr>
                      <a:r>
                        <a:rPr lang="en-IN" altLang="en-US">
                          <a:latin typeface="Times New Roman" panose="02020603050405020304" charset="0"/>
                          <a:cs typeface="Times New Roman" panose="02020603050405020304" charset="0"/>
                        </a:rPr>
                        <a:t>AUTHOR’S NAME</a:t>
                      </a:r>
                      <a:endParaRPr lang="en-IN" altLang="en-US">
                        <a:latin typeface="Times New Roman" panose="02020603050405020304" charset="0"/>
                        <a:cs typeface="Times New Roman" panose="02020603050405020304" charset="0"/>
                      </a:endParaRPr>
                    </a:p>
                  </a:txBody>
                  <a:tcPr/>
                </a:tc>
                <a:tc>
                  <a:txBody>
                    <a:bodyPr/>
                    <a:p>
                      <a:pPr algn="ctr">
                        <a:buNone/>
                      </a:pPr>
                      <a:r>
                        <a:rPr lang="en-IN" altLang="en-US">
                          <a:latin typeface="Times New Roman" panose="02020603050405020304" charset="0"/>
                          <a:cs typeface="Times New Roman" panose="02020603050405020304" charset="0"/>
                        </a:rPr>
                        <a:t>BASE PAPER</a:t>
                      </a:r>
                      <a:endParaRPr lang="en-IN" altLang="en-US">
                        <a:latin typeface="Times New Roman" panose="02020603050405020304" charset="0"/>
                        <a:cs typeface="Times New Roman" panose="02020603050405020304" charset="0"/>
                      </a:endParaRPr>
                    </a:p>
                  </a:txBody>
                  <a:tcPr/>
                </a:tc>
                <a:tc>
                  <a:txBody>
                    <a:bodyPr/>
                    <a:p>
                      <a:pPr algn="ctr">
                        <a:buNone/>
                      </a:pPr>
                      <a:r>
                        <a:rPr lang="en-IN" altLang="en-US">
                          <a:latin typeface="Times New Roman" panose="02020603050405020304" charset="0"/>
                          <a:cs typeface="Times New Roman" panose="02020603050405020304" charset="0"/>
                        </a:rPr>
                        <a:t>ALGORITHM’S USED</a:t>
                      </a:r>
                      <a:endParaRPr lang="en-IN" altLang="en-US">
                        <a:latin typeface="Times New Roman" panose="02020603050405020304" charset="0"/>
                        <a:cs typeface="Times New Roman" panose="02020603050405020304" charset="0"/>
                      </a:endParaRPr>
                    </a:p>
                  </a:txBody>
                  <a:tcPr/>
                </a:tc>
                <a:tc>
                  <a:txBody>
                    <a:bodyPr/>
                    <a:p>
                      <a:pPr algn="ctr">
                        <a:buNone/>
                      </a:pPr>
                      <a:r>
                        <a:rPr lang="en-IN" altLang="en-US">
                          <a:latin typeface="Times New Roman" panose="02020603050405020304" charset="0"/>
                          <a:cs typeface="Times New Roman" panose="02020603050405020304" charset="0"/>
                        </a:rPr>
                        <a:t>EFFICIENCY</a:t>
                      </a:r>
                      <a:endParaRPr lang="en-IN" altLang="en-US">
                        <a:latin typeface="Times New Roman" panose="02020603050405020304" charset="0"/>
                        <a:cs typeface="Times New Roman" panose="02020603050405020304" charset="0"/>
                      </a:endParaRPr>
                    </a:p>
                  </a:txBody>
                  <a:tcPr/>
                </a:tc>
              </a:tr>
              <a:tr h="1364615">
                <a:tc>
                  <a:txBody>
                    <a:bodyPr/>
                    <a:p>
                      <a:pPr algn="ctr">
                        <a:buNone/>
                      </a:pPr>
                      <a:r>
                        <a:rPr lang="en-IN" altLang="en-US" sz="2000">
                          <a:latin typeface="Times New Roman" panose="02020603050405020304" charset="0"/>
                          <a:cs typeface="Times New Roman" panose="02020603050405020304" charset="0"/>
                        </a:rPr>
                        <a:t>1</a:t>
                      </a:r>
                      <a:endParaRPr lang="en-IN"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Jiaqi Zhang et al. (2020)</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Detection and Classification of Pneumonia from Lung Ultrasound Images</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VGG, ResNet</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94.62% accuracy (3 stages) and 91.18% accuracy (4 stages)</a:t>
                      </a:r>
                      <a:endParaRPr lang="en-US" altLang="en-US" sz="2000">
                        <a:latin typeface="Times New Roman" panose="02020603050405020304" charset="0"/>
                        <a:cs typeface="Times New Roman" panose="02020603050405020304" charset="0"/>
                      </a:endParaRPr>
                    </a:p>
                  </a:txBody>
                  <a:tcPr/>
                </a:tc>
              </a:tr>
              <a:tr h="1047750">
                <a:tc>
                  <a:txBody>
                    <a:bodyPr/>
                    <a:p>
                      <a:pPr algn="ctr">
                        <a:buNone/>
                      </a:pPr>
                      <a:r>
                        <a:rPr lang="en-IN" altLang="en-US" sz="2000">
                          <a:latin typeface="Times New Roman" panose="02020603050405020304" charset="0"/>
                          <a:cs typeface="Times New Roman" panose="02020603050405020304" charset="0"/>
                        </a:rPr>
                        <a:t>2.</a:t>
                      </a:r>
                      <a:endParaRPr lang="en-IN"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Kanakaprabha S., D. Radha (2021)</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Analysis of COVID-19 and Pneumonia Detection in Chest X-Ray Images using Deep Learning</a:t>
                      </a:r>
                      <a:endParaRPr lang="en-US" altLang="en-US" sz="2000">
                        <a:latin typeface="Times New Roman" panose="02020603050405020304" charset="0"/>
                        <a:cs typeface="Times New Roman" panose="02020603050405020304" charset="0"/>
                      </a:endParaRPr>
                    </a:p>
                  </a:txBody>
                  <a:tcPr/>
                </a:tc>
                <a:tc>
                  <a:txBody>
                    <a:bodyPr/>
                    <a:p>
                      <a:pPr algn="ctr">
                        <a:buNone/>
                      </a:pPr>
                      <a:r>
                        <a:rPr lang="en-IN" altLang="en-US" sz="2000">
                          <a:latin typeface="Times New Roman" panose="02020603050405020304" charset="0"/>
                          <a:cs typeface="Times New Roman" panose="02020603050405020304" charset="0"/>
                        </a:rPr>
                        <a:t>CNN</a:t>
                      </a:r>
                      <a:endParaRPr lang="en-IN"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91.46%</a:t>
                      </a:r>
                      <a:endParaRPr lang="en-US" altLang="en-US" sz="2000">
                        <a:latin typeface="Times New Roman" panose="02020603050405020304" charset="0"/>
                        <a:cs typeface="Times New Roman" panose="02020603050405020304" charset="0"/>
                      </a:endParaRPr>
                    </a:p>
                  </a:txBody>
                  <a:tcPr/>
                </a:tc>
              </a:tr>
              <a:tr h="567690">
                <a:tc>
                  <a:txBody>
                    <a:bodyPr/>
                    <a:p>
                      <a:pPr algn="ctr">
                        <a:buNone/>
                      </a:pPr>
                      <a:r>
                        <a:rPr lang="en-IN" altLang="en-US" sz="2000">
                          <a:latin typeface="Times New Roman" panose="02020603050405020304" charset="0"/>
                          <a:cs typeface="Times New Roman" panose="02020603050405020304" charset="0"/>
                        </a:rPr>
                        <a:t>3.</a:t>
                      </a:r>
                      <a:endParaRPr lang="en-IN"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Michael Fu et al. (2025)</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DAViT: A Domain-Adapted Vision Transformer for Automated Pneumonia Detection and Explanation Using Chest X-Ray Images</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Vision Transformer (ViT) + CNN</a:t>
                      </a:r>
                      <a:endParaRPr lang="en-US" altLang="en-US" sz="2000">
                        <a:latin typeface="Times New Roman" panose="02020603050405020304" charset="0"/>
                        <a:cs typeface="Times New Roman" panose="02020603050405020304" charset="0"/>
                      </a:endParaRPr>
                    </a:p>
                  </a:txBody>
                  <a:tcPr/>
                </a:tc>
                <a:tc>
                  <a:txBody>
                    <a:bodyPr/>
                    <a:p>
                      <a:pPr algn="ctr">
                        <a:buNone/>
                      </a:pPr>
                      <a:r>
                        <a:rPr lang="en-US" altLang="en-US" sz="2000">
                          <a:latin typeface="Times New Roman" panose="02020603050405020304" charset="0"/>
                          <a:cs typeface="Times New Roman" panose="02020603050405020304" charset="0"/>
                        </a:rPr>
                        <a:t>97%</a:t>
                      </a:r>
                      <a:endParaRPr lang="en-US" altLang="en-US" sz="2000">
                        <a:latin typeface="Times New Roman" panose="02020603050405020304" charset="0"/>
                        <a:cs typeface="Times New Roman" panose="02020603050405020304" charset="0"/>
                      </a:endParaRPr>
                    </a:p>
                  </a:txBody>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38600" y="0"/>
            <a:ext cx="5159375"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sp>
        <p:nvSpPr>
          <p:cNvPr id="3" name="object 3"/>
          <p:cNvSpPr txBox="1"/>
          <p:nvPr/>
        </p:nvSpPr>
        <p:spPr>
          <a:xfrm>
            <a:off x="236899" y="1002318"/>
            <a:ext cx="11164570" cy="5015865"/>
          </a:xfrm>
          <a:prstGeom prst="rect">
            <a:avLst/>
          </a:prstGeom>
        </p:spPr>
        <p:txBody>
          <a:bodyPr vert="horz" wrap="square" lIns="0" tIns="60960" rIns="0" bIns="0" rtlCol="0">
            <a:spAutoFit/>
          </a:bodyPr>
          <a:lstStyle/>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The system uses deep learning to automatically detect pneumonia from chest X-ray images.</a:t>
            </a:r>
            <a:endParaRPr lang="en-US" altLang="en-US" sz="2400">
              <a:latin typeface="Times New Roman" panose="02020603050405020304" charset="0"/>
              <a:cs typeface="Times New Roman" panose="02020603050405020304" charset="0"/>
            </a:endParaRPr>
          </a:p>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Input images are preprocessed by resizing and normalization to maintain uniform size and quality.</a:t>
            </a:r>
            <a:endParaRPr lang="en-US" altLang="en-US" sz="2400">
              <a:latin typeface="Times New Roman" panose="02020603050405020304" charset="0"/>
              <a:cs typeface="Times New Roman" panose="02020603050405020304" charset="0"/>
            </a:endParaRPr>
          </a:p>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Data augmentation techniques are applied to improve generalization and reduce overfitting.</a:t>
            </a:r>
            <a:endParaRPr lang="en-US" altLang="en-US" sz="2400">
              <a:latin typeface="Times New Roman" panose="02020603050405020304" charset="0"/>
              <a:cs typeface="Times New Roman" panose="02020603050405020304" charset="0"/>
            </a:endParaRPr>
          </a:p>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Pretrained CNN models such as VGG16, ResNet50, and InceptionV3 are used for feature extraction.</a:t>
            </a:r>
            <a:endParaRPr lang="en-US" altLang="en-US" sz="2400">
              <a:latin typeface="Times New Roman" panose="02020603050405020304" charset="0"/>
              <a:cs typeface="Times New Roman" panose="02020603050405020304" charset="0"/>
            </a:endParaRPr>
          </a:p>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Extracted features are passed to dense layers to classify the image as Normal or Pneumonia.</a:t>
            </a:r>
            <a:endParaRPr lang="en-US" altLang="en-US" sz="2400">
              <a:latin typeface="Times New Roman" panose="02020603050405020304" charset="0"/>
              <a:cs typeface="Times New Roman" panose="02020603050405020304" charset="0"/>
            </a:endParaRPr>
          </a:p>
          <a:p>
            <a:pPr marL="355600" marR="5080" indent="-342900" algn="just">
              <a:lnSpc>
                <a:spcPts val="3020"/>
              </a:lnSpc>
              <a:spcBef>
                <a:spcPts val="480"/>
              </a:spcBef>
              <a:buFont typeface="Arial" panose="020B0604020202020204" pitchFamily="34" charset="0"/>
              <a:buChar char="•"/>
              <a:tabLst>
                <a:tab pos="504825" algn="l"/>
              </a:tabLst>
            </a:pPr>
            <a:r>
              <a:rPr lang="en-US" altLang="en-US" sz="2400">
                <a:latin typeface="Times New Roman" panose="02020603050405020304" charset="0"/>
                <a:cs typeface="Times New Roman" panose="02020603050405020304" charset="0"/>
              </a:rPr>
              <a:t>Model performance is evaluated using accuracy, loss, confusion matrix, precision, and recall to support healthcare professionals in faster and better diagnosis.</a:t>
            </a:r>
            <a:endParaRPr lang="en-US" altLang="en-US" sz="2400">
              <a:latin typeface="Times New Roman" panose="02020603050405020304" charset="0"/>
              <a:cs typeface="Times New Roman" panose="02020603050405020304" charset="0"/>
            </a:endParaRPr>
          </a:p>
        </p:txBody>
      </p:sp>
      <p:grpSp>
        <p:nvGrpSpPr>
          <p:cNvPr id="4" name="object 4"/>
          <p:cNvGrpSpPr/>
          <p:nvPr/>
        </p:nvGrpSpPr>
        <p:grpSpPr>
          <a:xfrm>
            <a:off x="0" y="216720"/>
            <a:ext cx="12192000" cy="803275"/>
            <a:chOff x="0" y="216720"/>
            <a:chExt cx="12192000" cy="803275"/>
          </a:xfrm>
        </p:grpSpPr>
        <p:pic>
          <p:nvPicPr>
            <p:cNvPr id="5" name="object 5"/>
            <p:cNvPicPr/>
            <p:nvPr/>
          </p:nvPicPr>
          <p:blipFill>
            <a:blip r:embed="rId1"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endParaRPr spc="-10" dirty="0"/>
          </a:p>
        </p:txBody>
      </p:sp>
      <p:sp>
        <p:nvSpPr>
          <p:cNvPr id="8" name="object 8"/>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b="1" spc="-25" dirty="0"/>
          </a:p>
        </p:txBody>
      </p:sp>
      <p:sp>
        <p:nvSpPr>
          <p:cNvPr id="9" name="object 9"/>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0" name="object 10"/>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088005" y="-18415"/>
            <a:ext cx="528828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20" dirty="0">
                <a:solidFill>
                  <a:srgbClr val="FFFFFF"/>
                </a:solidFill>
                <a:latin typeface="Times New Roman" panose="02020603050405020304"/>
                <a:cs typeface="Times New Roman" panose="02020603050405020304"/>
              </a:rPr>
              <a:t>DETECTION OF PNEUMONIA USING NEURAL NETWORKS</a:t>
            </a:r>
            <a:endParaRPr lang="en-IN" altLang="en-US" sz="1500" b="1" i="1" spc="-20" dirty="0">
              <a:solidFill>
                <a:srgbClr val="FFFFFF"/>
              </a:solidFill>
              <a:latin typeface="Times New Roman" panose="02020603050405020304"/>
              <a:cs typeface="Times New Roman" panose="02020603050405020304"/>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1"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endParaRPr spc="-10" dirty="0"/>
          </a:p>
        </p:txBody>
      </p:sp>
      <p:sp>
        <p:nvSpPr>
          <p:cNvPr id="9" name="object 9"/>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dirty="0">
                <a:sym typeface="+mn-ea"/>
              </a:rPr>
              <a:t>B-06</a:t>
            </a:r>
            <a:endParaRPr spc="-25" dirty="0"/>
          </a:p>
        </p:txBody>
      </p:sp>
      <p:sp>
        <p:nvSpPr>
          <p:cNvPr id="10" name="object 10"/>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1" name="object 11"/>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7" name="object 7"/>
          <p:cNvSpPr txBox="1"/>
          <p:nvPr/>
        </p:nvSpPr>
        <p:spPr>
          <a:xfrm>
            <a:off x="228600" y="1143000"/>
            <a:ext cx="11786235" cy="4364355"/>
          </a:xfrm>
          <a:prstGeom prst="rect">
            <a:avLst/>
          </a:prstGeom>
        </p:spPr>
        <p:txBody>
          <a:bodyPr vert="horz" wrap="square" lIns="0" tIns="60960" rIns="0" bIns="0" rtlCol="0">
            <a:spAutoFit/>
          </a:bodyPr>
          <a:lstStyle/>
          <a:p>
            <a:pPr marL="590550" marR="5080" indent="-577850" algn="just">
              <a:lnSpc>
                <a:spcPts val="3020"/>
              </a:lnSpc>
              <a:spcBef>
                <a:spcPts val="480"/>
              </a:spcBef>
            </a:pPr>
            <a:r>
              <a:rPr lang="en-US" altLang="en-US" sz="2400">
                <a:latin typeface="Times New Roman" panose="02020603050405020304"/>
                <a:cs typeface="Times New Roman" panose="02020603050405020304"/>
              </a:rPr>
              <a:t>[1]</a:t>
            </a:r>
            <a:r>
              <a:rPr lang="en-IN" altLang="en-US" sz="2400">
                <a:latin typeface="Times New Roman" panose="02020603050405020304"/>
                <a:cs typeface="Times New Roman" panose="02020603050405020304"/>
              </a:rPr>
              <a:t> </a:t>
            </a:r>
            <a:r>
              <a:rPr lang="en-US" altLang="en-US" sz="2400">
                <a:latin typeface="Times New Roman" panose="02020603050405020304"/>
                <a:cs typeface="Times New Roman" panose="02020603050405020304"/>
              </a:rPr>
              <a:t>J. Zhang, C.-B. Chng, X. Chen, C. Wu, M. Zhang, Y. Xue, J. Jiang, and C.-K. Chui,</a:t>
            </a: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r>
              <a:rPr lang="en-US" altLang="en-US" sz="2400">
                <a:latin typeface="Times New Roman" panose="02020603050405020304"/>
                <a:cs typeface="Times New Roman" panose="02020603050405020304"/>
              </a:rPr>
              <a:t>“Detection and Classification of Pneumonia from Lung Ultrasound Images,” IEEE, 2020.</a:t>
            </a: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r>
              <a:rPr lang="en-US" altLang="en-US" sz="2400">
                <a:latin typeface="Times New Roman" panose="02020603050405020304"/>
                <a:cs typeface="Times New Roman" panose="02020603050405020304"/>
              </a:rPr>
              <a:t>[2]</a:t>
            </a:r>
            <a:r>
              <a:rPr lang="en-IN" altLang="en-US" sz="2400">
                <a:latin typeface="Times New Roman" panose="02020603050405020304"/>
                <a:cs typeface="Times New Roman" panose="02020603050405020304"/>
              </a:rPr>
              <a:t> </a:t>
            </a:r>
            <a:r>
              <a:rPr lang="en-US" altLang="en-US" sz="2400">
                <a:latin typeface="Times New Roman" panose="02020603050405020304"/>
                <a:cs typeface="Times New Roman" panose="02020603050405020304"/>
              </a:rPr>
              <a:t>S. Kanakaprabha and D. Radha,</a:t>
            </a: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r>
              <a:rPr lang="en-US" altLang="en-US" sz="2400">
                <a:latin typeface="Times New Roman" panose="02020603050405020304"/>
                <a:cs typeface="Times New Roman" panose="02020603050405020304"/>
              </a:rPr>
              <a:t>“Analysis of COVID-19 and Pneumonia Detection in Chest X-Ray Images using Deep Learning,” IEEE, 2021.</a:t>
            </a: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r>
              <a:rPr lang="en-US" altLang="en-US" sz="2400">
                <a:latin typeface="Times New Roman" panose="02020603050405020304"/>
                <a:cs typeface="Times New Roman" panose="02020603050405020304"/>
              </a:rPr>
              <a:t>[3]</a:t>
            </a:r>
            <a:r>
              <a:rPr lang="en-IN" altLang="en-US" sz="2400">
                <a:latin typeface="Times New Roman" panose="02020603050405020304"/>
                <a:cs typeface="Times New Roman" panose="02020603050405020304"/>
              </a:rPr>
              <a:t> </a:t>
            </a:r>
            <a:r>
              <a:rPr lang="en-US" altLang="en-US" sz="2400">
                <a:latin typeface="Times New Roman" panose="02020603050405020304"/>
                <a:cs typeface="Times New Roman" panose="02020603050405020304"/>
              </a:rPr>
              <a:t>M. Fu, C. Tantithamthavorn, and T. Le,</a:t>
            </a:r>
            <a:endParaRPr lang="en-US" altLang="en-US" sz="2400">
              <a:latin typeface="Times New Roman" panose="02020603050405020304"/>
              <a:cs typeface="Times New Roman" panose="02020603050405020304"/>
            </a:endParaRPr>
          </a:p>
          <a:p>
            <a:pPr marL="590550" marR="5080" indent="-577850" algn="just">
              <a:lnSpc>
                <a:spcPts val="3020"/>
              </a:lnSpc>
              <a:spcBef>
                <a:spcPts val="480"/>
              </a:spcBef>
            </a:pPr>
            <a:r>
              <a:rPr lang="en-US" altLang="en-US" sz="2400">
                <a:latin typeface="Times New Roman" panose="02020603050405020304"/>
                <a:cs typeface="Times New Roman" panose="02020603050405020304"/>
              </a:rPr>
              <a:t>“DAViT: A Domain-Adapted Vision Transformer for Automated Pneumonia Detection and Explanation Using Chest X-Ray Images,” IEEE Access</a:t>
            </a:r>
            <a:endParaRPr lang="en-US" altLang="en-US" sz="2400">
              <a:latin typeface="Times New Roman" panose="02020603050405020304"/>
              <a:cs typeface="Times New Roman" panose="0202060305040502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4" name="object 4"/>
          <p:cNvSpPr txBox="1"/>
          <p:nvPr/>
        </p:nvSpPr>
        <p:spPr>
          <a:xfrm>
            <a:off x="3810000" y="-26670"/>
            <a:ext cx="541528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1"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endParaRPr spc="-10" dirty="0"/>
          </a:p>
        </p:txBody>
      </p:sp>
      <p:sp>
        <p:nvSpPr>
          <p:cNvPr id="10" name="object 10"/>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spc="-25" dirty="0"/>
              <a:t>B-06</a:t>
            </a:r>
            <a:endParaRPr lang="en-IN" spc="-25" dirty="0"/>
          </a:p>
        </p:txBody>
      </p:sp>
      <p:sp>
        <p:nvSpPr>
          <p:cNvPr id="11" name="object 11"/>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12" name="object 12"/>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9" name="object 9"/>
          <p:cNvSpPr txBox="1"/>
          <p:nvPr/>
        </p:nvSpPr>
        <p:spPr>
          <a:xfrm>
            <a:off x="533400" y="6019800"/>
            <a:ext cx="9277985" cy="289560"/>
          </a:xfrm>
          <a:prstGeom prst="rect">
            <a:avLst/>
          </a:prstGeom>
        </p:spPr>
        <p:txBody>
          <a:bodyPr vert="horz" wrap="square" lIns="0" tIns="12700" rIns="0" bIns="0" rtlCol="0">
            <a:spAutoFit/>
          </a:bodyPr>
          <a:lstStyle/>
          <a:p>
            <a:pPr marL="12700">
              <a:lnSpc>
                <a:spcPct val="100000"/>
              </a:lnSpc>
              <a:spcBef>
                <a:spcPts val="100"/>
              </a:spcBef>
            </a:pPr>
            <a:r>
              <a:rPr lang="en-US" altLang="en-US" sz="1800">
                <a:latin typeface="Times New Roman" panose="02020603050405020304" charset="0"/>
                <a:cs typeface="Times New Roman" panose="02020603050405020304" charset="0"/>
              </a:rPr>
              <a:t>https://github.com/224G1A0573/CSE-2022-26-BATCH-B6</a:t>
            </a:r>
            <a:endParaRPr lang="en-US" altLang="en-US" sz="1800">
              <a:latin typeface="Times New Roman" panose="02020603050405020304" charset="0"/>
              <a:cs typeface="Times New Roman" panose="02020603050405020304" charset="0"/>
            </a:endParaRPr>
          </a:p>
        </p:txBody>
      </p:sp>
      <p:pic>
        <p:nvPicPr>
          <p:cNvPr id="14" name="Picture 13"/>
          <p:cNvPicPr>
            <a:picLocks noChangeAspect="1"/>
          </p:cNvPicPr>
          <p:nvPr/>
        </p:nvPicPr>
        <p:blipFill>
          <a:blip r:embed="rId2"/>
          <a:stretch>
            <a:fillRect/>
          </a:stretch>
        </p:blipFill>
        <p:spPr>
          <a:xfrm>
            <a:off x="228600" y="1143000"/>
            <a:ext cx="11516995" cy="483933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p:txBody>
      </p:sp>
      <p:sp>
        <p:nvSpPr>
          <p:cNvPr id="3" name="object 3"/>
          <p:cNvSpPr txBox="1"/>
          <p:nvPr/>
        </p:nvSpPr>
        <p:spPr>
          <a:xfrm>
            <a:off x="2971800" y="0"/>
            <a:ext cx="6179820" cy="243205"/>
          </a:xfrm>
          <a:prstGeom prst="rect">
            <a:avLst/>
          </a:prstGeom>
        </p:spPr>
        <p:txBody>
          <a:bodyPr vert="horz" wrap="square" lIns="0" tIns="12700" rIns="0" bIns="0" rtlCol="0">
            <a:spAutoFit/>
          </a:bodyPr>
          <a:lstStyle/>
          <a:p>
            <a:pPr marL="12700">
              <a:lnSpc>
                <a:spcPct val="100000"/>
              </a:lnSpc>
              <a:spcBef>
                <a:spcPts val="100"/>
              </a:spcBef>
            </a:pPr>
            <a:r>
              <a:rPr lang="en-IN" altLang="en-US" sz="1500" b="1" i="1" spc="-10" dirty="0">
                <a:solidFill>
                  <a:srgbClr val="FFFFFF"/>
                </a:solidFill>
                <a:latin typeface="Times New Roman" panose="02020603050405020304"/>
                <a:cs typeface="Times New Roman" panose="02020603050405020304"/>
              </a:rPr>
              <a:t>DETECTION OF PNEUMONIA USING NEURAL NETWORKS</a:t>
            </a:r>
            <a:endParaRPr lang="en-IN" altLang="en-US" sz="1500" b="1" i="1" spc="-10" dirty="0">
              <a:solidFill>
                <a:srgbClr val="FFFFFF"/>
              </a:solidFill>
              <a:latin typeface="Times New Roman" panose="02020603050405020304"/>
              <a:cs typeface="Times New Roman" panose="02020603050405020304"/>
            </a:endParaRPr>
          </a:p>
        </p:txBody>
      </p:sp>
      <p:sp>
        <p:nvSpPr>
          <p:cNvPr id="5" name="object 5"/>
          <p:cNvSpPr txBox="1">
            <a:spLocks noGrp="1"/>
          </p:cNvSpPr>
          <p:nvPr>
            <p:ph type="ftr" sz="quarter" idx="5"/>
          </p:nvPr>
        </p:nvSpPr>
        <p:spPr>
          <a:xfrm>
            <a:off x="149031" y="6629427"/>
            <a:ext cx="635000" cy="236220"/>
          </a:xfrm>
          <a:prstGeom prst="rect">
            <a:avLst/>
          </a:prstGeom>
        </p:spPr>
        <p:txBody>
          <a:bodyPr vert="horz" wrap="square" lIns="0" tIns="0" rIns="0" bIns="0" rtlCol="0">
            <a:spAutoFit/>
          </a:bodyPr>
          <a:lstStyle/>
          <a:p>
            <a:pPr marL="12700">
              <a:lnSpc>
                <a:spcPts val="1845"/>
              </a:lnSpc>
            </a:pPr>
            <a:r>
              <a:rPr lang="en-IN" spc="-25" dirty="0"/>
              <a:t>B-06</a:t>
            </a:r>
            <a:endParaRPr lang="en-IN" spc="-25" dirty="0"/>
          </a:p>
        </p:txBody>
      </p:sp>
      <p:sp>
        <p:nvSpPr>
          <p:cNvPr id="6" name="object 6"/>
          <p:cNvSpPr txBox="1">
            <a:spLocks noGrp="1"/>
          </p:cNvSpPr>
          <p:nvPr>
            <p:ph type="dt" sz="half" idx="6"/>
          </p:nvPr>
        </p:nvSpPr>
        <p:spPr>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endParaRPr cap="small" spc="-130" dirty="0"/>
          </a:p>
        </p:txBody>
      </p:sp>
      <p:sp>
        <p:nvSpPr>
          <p:cNvPr id="7" name="object 7"/>
          <p:cNvSpPr txBox="1"/>
          <p:nvPr/>
        </p:nvSpPr>
        <p:spPr>
          <a:xfrm>
            <a:off x="7147541" y="6629197"/>
            <a:ext cx="3891279" cy="250825"/>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panose="02020603050405020304"/>
                <a:cs typeface="Times New Roman" panose="02020603050405020304"/>
              </a:rPr>
              <a:t>Srinivasa</a:t>
            </a:r>
            <a:r>
              <a:rPr sz="1600" cap="small" spc="70" dirty="0">
                <a:solidFill>
                  <a:srgbClr val="FFFFFF"/>
                </a:solidFill>
                <a:latin typeface="Times New Roman" panose="02020603050405020304"/>
                <a:cs typeface="Times New Roman" panose="02020603050405020304"/>
              </a:rPr>
              <a:t> </a:t>
            </a:r>
            <a:r>
              <a:rPr sz="1600" cap="small" spc="-120" dirty="0">
                <a:solidFill>
                  <a:srgbClr val="FFFFFF"/>
                </a:solidFill>
                <a:latin typeface="Times New Roman" panose="02020603050405020304"/>
                <a:cs typeface="Times New Roman" panose="02020603050405020304"/>
              </a:rPr>
              <a:t>Ramanujan</a:t>
            </a:r>
            <a:r>
              <a:rPr sz="1600" cap="small" spc="75" dirty="0">
                <a:solidFill>
                  <a:srgbClr val="FFFFFF"/>
                </a:solidFill>
                <a:latin typeface="Times New Roman" panose="02020603050405020304"/>
                <a:cs typeface="Times New Roman" panose="02020603050405020304"/>
              </a:rPr>
              <a:t> </a:t>
            </a:r>
            <a:r>
              <a:rPr sz="1600" cap="small" spc="-110" dirty="0">
                <a:solidFill>
                  <a:srgbClr val="FFFFFF"/>
                </a:solidFill>
                <a:latin typeface="Times New Roman" panose="02020603050405020304"/>
                <a:cs typeface="Times New Roman" panose="02020603050405020304"/>
              </a:rPr>
              <a:t>Institute</a:t>
            </a:r>
            <a:r>
              <a:rPr sz="1600" cap="small" spc="75" dirty="0">
                <a:solidFill>
                  <a:srgbClr val="FFFFFF"/>
                </a:solidFill>
                <a:latin typeface="Times New Roman" panose="02020603050405020304"/>
                <a:cs typeface="Times New Roman" panose="02020603050405020304"/>
              </a:rPr>
              <a:t> </a:t>
            </a:r>
            <a:r>
              <a:rPr sz="1600" cap="small" spc="-100" dirty="0">
                <a:solidFill>
                  <a:srgbClr val="FFFFFF"/>
                </a:solidFill>
                <a:latin typeface="Times New Roman" panose="02020603050405020304"/>
                <a:cs typeface="Times New Roman" panose="02020603050405020304"/>
              </a:rPr>
              <a:t>of</a:t>
            </a:r>
            <a:r>
              <a:rPr sz="1600" cap="small" spc="75" dirty="0">
                <a:solidFill>
                  <a:srgbClr val="FFFFFF"/>
                </a:solidFill>
                <a:latin typeface="Times New Roman" panose="02020603050405020304"/>
                <a:cs typeface="Times New Roman" panose="02020603050405020304"/>
              </a:rPr>
              <a:t> </a:t>
            </a:r>
            <a:r>
              <a:rPr sz="1600" cap="small" spc="-140" dirty="0">
                <a:solidFill>
                  <a:srgbClr val="FFFFFF"/>
                </a:solidFill>
                <a:latin typeface="Times New Roman" panose="02020603050405020304"/>
                <a:cs typeface="Times New Roman" panose="02020603050405020304"/>
              </a:rPr>
              <a:t>Technology</a:t>
            </a:r>
            <a:endParaRPr sz="1600">
              <a:latin typeface="Times New Roman" panose="02020603050405020304"/>
              <a:cs typeface="Times New Roman" panose="02020603050405020304"/>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panose="02020603050405020304"/>
                <a:cs typeface="Times New Roman" panose="02020603050405020304"/>
              </a:rPr>
              <a:t>Any</a:t>
            </a:r>
            <a:r>
              <a:rPr sz="9600" i="1" spc="-30" dirty="0">
                <a:solidFill>
                  <a:srgbClr val="FF6600"/>
                </a:solidFill>
                <a:latin typeface="Times New Roman" panose="02020603050405020304"/>
                <a:cs typeface="Times New Roman" panose="02020603050405020304"/>
              </a:rPr>
              <a:t> </a:t>
            </a:r>
            <a:r>
              <a:rPr sz="9600" i="1" spc="-10" dirty="0">
                <a:solidFill>
                  <a:srgbClr val="FF6600"/>
                </a:solidFill>
                <a:latin typeface="Times New Roman" panose="02020603050405020304"/>
                <a:cs typeface="Times New Roman" panose="02020603050405020304"/>
              </a:rPr>
              <a:t>Queries?</a:t>
            </a:r>
            <a:endParaRPr sz="9600">
              <a:latin typeface="Times New Roman" panose="02020603050405020304"/>
              <a:cs typeface="Times New Roman" panose="02020603050405020304"/>
            </a:endParaRPr>
          </a:p>
        </p:txBody>
      </p:sp>
    </p:spTree>
  </p:cSld>
  <p:clrMapOvr>
    <a:masterClrMapping/>
  </p:clrMapOvr>
</p:sld>
</file>

<file path=ppt/tags/tag1.xml><?xml version="1.0" encoding="utf-8"?>
<p:tagLst xmlns:p="http://schemas.openxmlformats.org/presentationml/2006/main">
  <p:tag name="TABLE_ENDDRAG_ORIGIN_RECT" val="927*287"/>
  <p:tag name="TABLE_ENDDRAG_RECT" val="11*97*927*28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5500</Words>
  <Application>WPS Presentation</Application>
  <PresentationFormat>On-screen Show (4:3)</PresentationFormat>
  <Paragraphs>242</Paragraphs>
  <Slides>11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11</vt:i4>
      </vt:variant>
    </vt:vector>
  </HeadingPairs>
  <TitlesOfParts>
    <vt:vector size="21" baseType="lpstr">
      <vt:lpstr>Arial</vt:lpstr>
      <vt:lpstr>SimSun</vt:lpstr>
      <vt:lpstr>Wingdings</vt:lpstr>
      <vt:lpstr>Times New Roman</vt:lpstr>
      <vt:lpstr>Times New Roman</vt:lpstr>
      <vt:lpstr>Lucida Sans Unicode</vt:lpstr>
      <vt:lpstr>Microsoft YaHei</vt:lpstr>
      <vt:lpstr>Arial Unicode MS</vt:lpstr>
      <vt:lpstr>Calibri</vt:lpstr>
      <vt:lpstr>Office Theme</vt:lpstr>
      <vt:lpstr>DETECTION OF PNEUMONIA USING NEURAl NETWORKS</vt:lpstr>
      <vt:lpstr>Contents</vt:lpstr>
      <vt:lpstr>Title Justification</vt:lpstr>
      <vt:lpstr>Abstract</vt:lpstr>
      <vt:lpstr>Problem Statement</vt:lpstr>
      <vt:lpstr>Objectives of	Project</vt:lpstr>
      <vt:lpstr>PowerPoint 演示文稿</vt:lpstr>
      <vt:lpstr>Proposed	System</vt:lpstr>
      <vt:lpstr>References</vt:lpstr>
      <vt:lpstr>Git Hub	Dashboards of	each	student</vt:lpstr>
      <vt:lpstr>Any Queries?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DETECTION OF PNEUMONIA USING NEURAl NETWORKS</dc:title>
  <dc:creator/>
  <cp:lastModifiedBy>PRANEESHA V</cp:lastModifiedBy>
  <cp:revision>10</cp:revision>
  <dcterms:created xsi:type="dcterms:W3CDTF">2025-12-03T13:01:00Z</dcterms:created>
  <dcterms:modified xsi:type="dcterms:W3CDTF">2025-12-18T12:45:30Z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2025-12-03T16:30:00Z</vt:filetime>
  </property>
  <property fmtid="{D5CDD505-2E9C-101B-9397-08002B2CF9AE}" pid="3" name="Creator">
    <vt:lpwstr>Google</vt:lpwstr>
  </property>
  <property fmtid="{D5CDD505-2E9C-101B-9397-08002B2CF9AE}" pid="4" name="LastSaved">
    <vt:filetime>2025-12-03T16:30:00Z</vt:filetime>
  </property>
  <property fmtid="{D5CDD505-2E9C-101B-9397-08002B2CF9AE}" pid="5" name="ICV">
    <vt:lpwstr>9C3331DB4DC04567BB3F75B1AA60DC40_13</vt:lpwstr>
  </property>
  <property fmtid="{D5CDD505-2E9C-101B-9397-08002B2CF9AE}" pid="6" name="KSOProductBuildVer">
    <vt:lpwstr>1033-12.2.0.23155</vt:lpwstr>
  </property>
</Properties>
</file>